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56" r:id="rId3"/>
    <p:sldId id="342" r:id="rId4"/>
    <p:sldId id="257" r:id="rId5"/>
    <p:sldId id="259" r:id="rId6"/>
    <p:sldId id="349" r:id="rId7"/>
    <p:sldId id="260" r:id="rId8"/>
    <p:sldId id="261" r:id="rId9"/>
    <p:sldId id="262" r:id="rId10"/>
    <p:sldId id="263" r:id="rId11"/>
    <p:sldId id="264" r:id="rId12"/>
    <p:sldId id="265" r:id="rId13"/>
    <p:sldId id="266" r:id="rId14"/>
    <p:sldId id="267" r:id="rId15"/>
    <p:sldId id="34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36" autoAdjust="0"/>
    <p:restoredTop sz="66438"/>
  </p:normalViewPr>
  <p:slideViewPr>
    <p:cSldViewPr snapToGrid="0">
      <p:cViewPr varScale="1">
        <p:scale>
          <a:sx n="59" d="100"/>
          <a:sy n="59" d="100"/>
        </p:scale>
        <p:origin x="1334" y="2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els Berglund" userId="6462ffc3c746bb1c" providerId="LiveId" clId="{572CFA61-6849-42BD-B1DA-93EA9D7DCECD}"/>
    <pc:docChg chg="undo redo custSel addSld delSld modSld">
      <pc:chgData name="Niels Berglund" userId="6462ffc3c746bb1c" providerId="LiveId" clId="{572CFA61-6849-42BD-B1DA-93EA9D7DCECD}" dt="2025-12-08T05:30:16.718" v="1620" actId="167"/>
      <pc:docMkLst>
        <pc:docMk/>
      </pc:docMkLst>
      <pc:sldChg chg="addSp delSp modSp mod">
        <pc:chgData name="Niels Berglund" userId="6462ffc3c746bb1c" providerId="LiveId" clId="{572CFA61-6849-42BD-B1DA-93EA9D7DCECD}" dt="2025-12-07T16:09:51.521" v="1354" actId="1076"/>
        <pc:sldMkLst>
          <pc:docMk/>
          <pc:sldMk cId="3785071296" sldId="256"/>
        </pc:sldMkLst>
        <pc:spChg chg="add mod">
          <ac:chgData name="Niels Berglund" userId="6462ffc3c746bb1c" providerId="LiveId" clId="{572CFA61-6849-42BD-B1DA-93EA9D7DCECD}" dt="2025-12-07T16:09:34.305" v="1353" actId="1076"/>
          <ac:spMkLst>
            <pc:docMk/>
            <pc:sldMk cId="3785071296" sldId="256"/>
            <ac:spMk id="6" creationId="{EE2CDBA7-606A-0BFA-3A26-E9104EEB72C7}"/>
          </ac:spMkLst>
        </pc:spChg>
        <pc:spChg chg="add mod">
          <ac:chgData name="Niels Berglund" userId="6462ffc3c746bb1c" providerId="LiveId" clId="{572CFA61-6849-42BD-B1DA-93EA9D7DCECD}" dt="2025-12-07T16:09:51.521" v="1354" actId="1076"/>
          <ac:spMkLst>
            <pc:docMk/>
            <pc:sldMk cId="3785071296" sldId="256"/>
            <ac:spMk id="7" creationId="{E5D20DAC-168F-C865-0AFC-10BE2F9B55B0}"/>
          </ac:spMkLst>
        </pc:spChg>
      </pc:sldChg>
      <pc:sldChg chg="addSp delSp modSp mod">
        <pc:chgData name="Niels Berglund" userId="6462ffc3c746bb1c" providerId="LiveId" clId="{572CFA61-6849-42BD-B1DA-93EA9D7DCECD}" dt="2025-12-07T16:27:26.023" v="1388" actId="113"/>
        <pc:sldMkLst>
          <pc:docMk/>
          <pc:sldMk cId="3354249248" sldId="259"/>
        </pc:sldMkLst>
        <pc:spChg chg="mod">
          <ac:chgData name="Niels Berglund" userId="6462ffc3c746bb1c" providerId="LiveId" clId="{572CFA61-6849-42BD-B1DA-93EA9D7DCECD}" dt="2025-12-07T16:25:00.090" v="1375" actId="20577"/>
          <ac:spMkLst>
            <pc:docMk/>
            <pc:sldMk cId="3354249248" sldId="259"/>
            <ac:spMk id="2" creationId="{A03DCA35-D6B1-AD62-F311-BAD0A8061453}"/>
          </ac:spMkLst>
        </pc:spChg>
        <pc:spChg chg="add del mod">
          <ac:chgData name="Niels Berglund" userId="6462ffc3c746bb1c" providerId="LiveId" clId="{572CFA61-6849-42BD-B1DA-93EA9D7DCECD}" dt="2025-12-07T16:25:17.588" v="1377" actId="478"/>
          <ac:spMkLst>
            <pc:docMk/>
            <pc:sldMk cId="3354249248" sldId="259"/>
            <ac:spMk id="4" creationId="{2CFF510F-1AF0-FF39-1425-724A988E8D68}"/>
          </ac:spMkLst>
        </pc:spChg>
        <pc:spChg chg="mod">
          <ac:chgData name="Niels Berglund" userId="6462ffc3c746bb1c" providerId="LiveId" clId="{572CFA61-6849-42BD-B1DA-93EA9D7DCECD}" dt="2025-12-07T16:27:26.023" v="1388" actId="113"/>
          <ac:spMkLst>
            <pc:docMk/>
            <pc:sldMk cId="3354249248" sldId="259"/>
            <ac:spMk id="6" creationId="{D4BBF002-8800-67DF-6A4C-984FC462CB66}"/>
          </ac:spMkLst>
        </pc:spChg>
        <pc:spChg chg="del">
          <ac:chgData name="Niels Berglund" userId="6462ffc3c746bb1c" providerId="LiveId" clId="{572CFA61-6849-42BD-B1DA-93EA9D7DCECD}" dt="2025-12-07T16:25:14.091" v="1376" actId="478"/>
          <ac:spMkLst>
            <pc:docMk/>
            <pc:sldMk cId="3354249248" sldId="259"/>
            <ac:spMk id="7" creationId="{58D489AF-8CD3-713A-1A92-1F20B20C1F44}"/>
          </ac:spMkLst>
        </pc:spChg>
      </pc:sldChg>
      <pc:sldChg chg="addSp modSp mod modAnim">
        <pc:chgData name="Niels Berglund" userId="6462ffc3c746bb1c" providerId="LiveId" clId="{572CFA61-6849-42BD-B1DA-93EA9D7DCECD}" dt="2025-12-08T05:30:16.718" v="1620" actId="167"/>
        <pc:sldMkLst>
          <pc:docMk/>
          <pc:sldMk cId="465671313" sldId="261"/>
        </pc:sldMkLst>
        <pc:picChg chg="add mod ord">
          <ac:chgData name="Niels Berglund" userId="6462ffc3c746bb1c" providerId="LiveId" clId="{572CFA61-6849-42BD-B1DA-93EA9D7DCECD}" dt="2025-12-08T05:30:16.718" v="1620" actId="167"/>
          <ac:picMkLst>
            <pc:docMk/>
            <pc:sldMk cId="465671313" sldId="261"/>
            <ac:picMk id="3" creationId="{2D378439-BD6A-7509-3FAB-BA03529A523C}"/>
          </ac:picMkLst>
        </pc:picChg>
      </pc:sldChg>
      <pc:sldChg chg="modSp add mod">
        <pc:chgData name="Niels Berglund" userId="6462ffc3c746bb1c" providerId="LiveId" clId="{572CFA61-6849-42BD-B1DA-93EA9D7DCECD}" dt="2025-11-20T10:33:18.017" v="1247" actId="20577"/>
        <pc:sldMkLst>
          <pc:docMk/>
          <pc:sldMk cId="1006093960" sldId="266"/>
        </pc:sldMkLst>
        <pc:spChg chg="mod">
          <ac:chgData name="Niels Berglund" userId="6462ffc3c746bb1c" providerId="LiveId" clId="{572CFA61-6849-42BD-B1DA-93EA9D7DCECD}" dt="2025-11-20T10:33:18.017" v="1247" actId="20577"/>
          <ac:spMkLst>
            <pc:docMk/>
            <pc:sldMk cId="1006093960" sldId="266"/>
            <ac:spMk id="8" creationId="{5913A615-D061-3423-AD6B-E1B21F3E6802}"/>
          </ac:spMkLst>
        </pc:spChg>
      </pc:sldChg>
      <pc:sldChg chg="modSp add mod">
        <pc:chgData name="Niels Berglund" userId="6462ffc3c746bb1c" providerId="LiveId" clId="{572CFA61-6849-42BD-B1DA-93EA9D7DCECD}" dt="2025-11-20T10:33:49.792" v="1251" actId="20577"/>
        <pc:sldMkLst>
          <pc:docMk/>
          <pc:sldMk cId="441496072" sldId="267"/>
        </pc:sldMkLst>
        <pc:spChg chg="mod">
          <ac:chgData name="Niels Berglund" userId="6462ffc3c746bb1c" providerId="LiveId" clId="{572CFA61-6849-42BD-B1DA-93EA9D7DCECD}" dt="2025-11-20T10:33:49.792" v="1251" actId="20577"/>
          <ac:spMkLst>
            <pc:docMk/>
            <pc:sldMk cId="441496072" sldId="267"/>
            <ac:spMk id="8" creationId="{C39D530C-03CA-731A-5739-31F26DAFE8E0}"/>
          </ac:spMkLst>
        </pc:spChg>
      </pc:sldChg>
      <pc:sldChg chg="addSp delSp modSp add mod">
        <pc:chgData name="Niels Berglund" userId="6462ffc3c746bb1c" providerId="LiveId" clId="{572CFA61-6849-42BD-B1DA-93EA9D7DCECD}" dt="2025-11-20T10:29:23.108" v="1243" actId="14100"/>
        <pc:sldMkLst>
          <pc:docMk/>
          <pc:sldMk cId="1644626494" sldId="342"/>
        </pc:sldMkLst>
        <pc:spChg chg="mod">
          <ac:chgData name="Niels Berglund" userId="6462ffc3c746bb1c" providerId="LiveId" clId="{572CFA61-6849-42BD-B1DA-93EA9D7DCECD}" dt="2025-11-20T10:29:18.222" v="1241" actId="1076"/>
          <ac:spMkLst>
            <pc:docMk/>
            <pc:sldMk cId="1644626494" sldId="342"/>
            <ac:spMk id="12" creationId="{8F076618-70B8-1760-E301-2A8DE85CC216}"/>
          </ac:spMkLst>
        </pc:spChg>
        <pc:picChg chg="add mod ord">
          <ac:chgData name="Niels Berglund" userId="6462ffc3c746bb1c" providerId="LiveId" clId="{572CFA61-6849-42BD-B1DA-93EA9D7DCECD}" dt="2025-11-20T10:29:23.108" v="1243" actId="14100"/>
          <ac:picMkLst>
            <pc:docMk/>
            <pc:sldMk cId="1644626494" sldId="342"/>
            <ac:picMk id="4" creationId="{A904B263-900C-1311-F9D8-A3509CE735C3}"/>
          </ac:picMkLst>
        </pc:picChg>
      </pc:sldChg>
      <pc:sldChg chg="addSp modSp add mod modAnim">
        <pc:chgData name="Niels Berglund" userId="6462ffc3c746bb1c" providerId="LiveId" clId="{572CFA61-6849-42BD-B1DA-93EA9D7DCECD}" dt="2025-12-07T17:43:35.379" v="1616"/>
        <pc:sldMkLst>
          <pc:docMk/>
          <pc:sldMk cId="1564535408" sldId="349"/>
        </pc:sldMkLst>
        <pc:spChg chg="mod">
          <ac:chgData name="Niels Berglund" userId="6462ffc3c746bb1c" providerId="LiveId" clId="{572CFA61-6849-42BD-B1DA-93EA9D7DCECD}" dt="2025-12-07T16:29:18.348" v="1390" actId="20577"/>
          <ac:spMkLst>
            <pc:docMk/>
            <pc:sldMk cId="1564535408" sldId="349"/>
            <ac:spMk id="2" creationId="{3A455A93-0D72-3D24-38DF-83349677541B}"/>
          </ac:spMkLst>
        </pc:spChg>
        <pc:spChg chg="add mod">
          <ac:chgData name="Niels Berglund" userId="6462ffc3c746bb1c" providerId="LiveId" clId="{572CFA61-6849-42BD-B1DA-93EA9D7DCECD}" dt="2025-12-07T17:39:34.957" v="1582" actId="1076"/>
          <ac:spMkLst>
            <pc:docMk/>
            <pc:sldMk cId="1564535408" sldId="349"/>
            <ac:spMk id="3" creationId="{E4BDFB52-828A-B51B-97B4-8D7A5BC5E745}"/>
          </ac:spMkLst>
        </pc:spChg>
        <pc:spChg chg="add mod">
          <ac:chgData name="Niels Berglund" userId="6462ffc3c746bb1c" providerId="LiveId" clId="{572CFA61-6849-42BD-B1DA-93EA9D7DCECD}" dt="2025-12-07T17:41:51.548" v="1608" actId="1076"/>
          <ac:spMkLst>
            <pc:docMk/>
            <pc:sldMk cId="1564535408" sldId="349"/>
            <ac:spMk id="4" creationId="{E667FD50-91A0-15EB-7ECE-4023C0159E4E}"/>
          </ac:spMkLst>
        </pc:spChg>
        <pc:spChg chg="add mod">
          <ac:chgData name="Niels Berglund" userId="6462ffc3c746bb1c" providerId="LiveId" clId="{572CFA61-6849-42BD-B1DA-93EA9D7DCECD}" dt="2025-12-07T17:39:45.628" v="1584" actId="1076"/>
          <ac:spMkLst>
            <pc:docMk/>
            <pc:sldMk cId="1564535408" sldId="349"/>
            <ac:spMk id="5" creationId="{DEE5ADA3-6DBC-34C1-081D-F7BDF8CF4640}"/>
          </ac:spMkLst>
        </pc:spChg>
        <pc:spChg chg="mod">
          <ac:chgData name="Niels Berglund" userId="6462ffc3c746bb1c" providerId="LiveId" clId="{572CFA61-6849-42BD-B1DA-93EA9D7DCECD}" dt="2025-12-07T17:39:31.450" v="1580" actId="1076"/>
          <ac:spMkLst>
            <pc:docMk/>
            <pc:sldMk cId="1564535408" sldId="349"/>
            <ac:spMk id="6" creationId="{660AFA28-DDA3-03CE-9ABA-81D2D0785E82}"/>
          </ac:spMkLst>
        </pc:spChg>
        <pc:spChg chg="add mod">
          <ac:chgData name="Niels Berglund" userId="6462ffc3c746bb1c" providerId="LiveId" clId="{572CFA61-6849-42BD-B1DA-93EA9D7DCECD}" dt="2025-12-07T17:39:57.483" v="1585" actId="1076"/>
          <ac:spMkLst>
            <pc:docMk/>
            <pc:sldMk cId="1564535408" sldId="349"/>
            <ac:spMk id="7" creationId="{34E7C445-1FE3-2B3F-EBAB-DC0823B2264A}"/>
          </ac:spMkLst>
        </pc:spChg>
        <pc:picChg chg="mod">
          <ac:chgData name="Niels Berglund" userId="6462ffc3c746bb1c" providerId="LiveId" clId="{572CFA61-6849-42BD-B1DA-93EA9D7DCECD}" dt="2025-12-07T17:43:06.181" v="1615" actId="1076"/>
          <ac:picMkLst>
            <pc:docMk/>
            <pc:sldMk cId="1564535408" sldId="349"/>
            <ac:picMk id="11" creationId="{ECF32407-BACD-39A4-A624-4B9E90E04FFB}"/>
          </ac:picMkLst>
        </pc:picChg>
        <pc:cxnChg chg="add mod">
          <ac:chgData name="Niels Berglund" userId="6462ffc3c746bb1c" providerId="LiveId" clId="{572CFA61-6849-42BD-B1DA-93EA9D7DCECD}" dt="2025-12-07T17:41:16.601" v="1602" actId="1076"/>
          <ac:cxnSpMkLst>
            <pc:docMk/>
            <pc:sldMk cId="1564535408" sldId="349"/>
            <ac:cxnSpMk id="9" creationId="{AE81492C-8719-FDB0-7E4C-0AE2068968CF}"/>
          </ac:cxnSpMkLst>
        </pc:cxnChg>
        <pc:cxnChg chg="add mod">
          <ac:chgData name="Niels Berglund" userId="6462ffc3c746bb1c" providerId="LiveId" clId="{572CFA61-6849-42BD-B1DA-93EA9D7DCECD}" dt="2025-12-07T17:41:27.367" v="1603" actId="1076"/>
          <ac:cxnSpMkLst>
            <pc:docMk/>
            <pc:sldMk cId="1564535408" sldId="349"/>
            <ac:cxnSpMk id="10" creationId="{B4A910D5-DEB4-3701-1999-7CC143B53EF9}"/>
          </ac:cxnSpMkLst>
        </pc:cxnChg>
        <pc:cxnChg chg="add mod">
          <ac:chgData name="Niels Berglund" userId="6462ffc3c746bb1c" providerId="LiveId" clId="{572CFA61-6849-42BD-B1DA-93EA9D7DCECD}" dt="2025-12-07T17:41:38.756" v="1606" actId="1076"/>
          <ac:cxnSpMkLst>
            <pc:docMk/>
            <pc:sldMk cId="1564535408" sldId="349"/>
            <ac:cxnSpMk id="12" creationId="{221632AD-14FA-F294-E1DA-D2B111C3B244}"/>
          </ac:cxnSpMkLst>
        </pc:cxnChg>
        <pc:cxnChg chg="add mod">
          <ac:chgData name="Niels Berglund" userId="6462ffc3c746bb1c" providerId="LiveId" clId="{572CFA61-6849-42BD-B1DA-93EA9D7DCECD}" dt="2025-12-07T17:42:09.878" v="1610" actId="1076"/>
          <ac:cxnSpMkLst>
            <pc:docMk/>
            <pc:sldMk cId="1564535408" sldId="349"/>
            <ac:cxnSpMk id="13" creationId="{FAF2FC4C-7ED6-F3B9-1C7C-813C87721EDA}"/>
          </ac:cxnSpMkLst>
        </pc:cxnChg>
      </pc:sldChg>
      <pc:sldChg chg="addSp delSp modSp new del mod modShow">
        <pc:chgData name="Niels Berglund" userId="6462ffc3c746bb1c" providerId="LiveId" clId="{572CFA61-6849-42BD-B1DA-93EA9D7DCECD}" dt="2025-12-07T16:07:47.537" v="1266" actId="47"/>
        <pc:sldMkLst>
          <pc:docMk/>
          <pc:sldMk cId="2813410835" sldId="349"/>
        </pc:sldMkLst>
      </pc:sldChg>
      <pc:sldChg chg="addSp delSp modSp new del mod">
        <pc:chgData name="Niels Berglund" userId="6462ffc3c746bb1c" providerId="LiveId" clId="{572CFA61-6849-42BD-B1DA-93EA9D7DCECD}" dt="2025-12-07T16:07:49.793" v="1267" actId="47"/>
        <pc:sldMkLst>
          <pc:docMk/>
          <pc:sldMk cId="355482602" sldId="3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1FF5A2-7221-4D0A-BA7E-3E97D457CE20}" type="datetimeFigureOut">
              <a:rPr lang="en-US" smtClean="0"/>
              <a:t>2025-12-07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CB3EF4-88E8-4C44-ACD9-4A29BA467B38}" type="slidenum">
              <a:rPr lang="en-US" smtClean="0"/>
              <a:t>‹#›</a:t>
            </a:fld>
            <a:endParaRPr lang="en-US"/>
          </a:p>
        </p:txBody>
      </p:sp>
    </p:spTree>
    <p:extLst>
      <p:ext uri="{BB962C8B-B14F-4D97-AF65-F5344CB8AC3E}">
        <p14:creationId xmlns:p14="http://schemas.microsoft.com/office/powerpoint/2010/main" val="469395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world as we know it began on this date. What happened then?</a:t>
            </a:r>
          </a:p>
          <a:p>
            <a:endParaRPr lang="en-US"/>
          </a:p>
          <a:p>
            <a:r>
              <a:rPr lang="en-US"/>
              <a:t>ChatGPT was released, and the world became aware of </a:t>
            </a:r>
            <a:r>
              <a:rPr lang="en-US" err="1"/>
              <a:t>GenAI</a:t>
            </a:r>
            <a:r>
              <a:rPr lang="en-US"/>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609DCD-38B9-4CAA-A10D-406D26B5670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24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talks about MCP. Today we're actually watching it work. Minimal slides, maximum code. Let's go.</a:t>
            </a:r>
          </a:p>
        </p:txBody>
      </p:sp>
      <p:sp>
        <p:nvSpPr>
          <p:cNvPr id="4" name="Slide Number Placeholder 3"/>
          <p:cNvSpPr>
            <a:spLocks noGrp="1"/>
          </p:cNvSpPr>
          <p:nvPr>
            <p:ph type="sldNum" sz="quarter" idx="5"/>
          </p:nvPr>
        </p:nvSpPr>
        <p:spPr/>
        <p:txBody>
          <a:bodyPr/>
          <a:lstStyle/>
          <a:p>
            <a:fld id="{63CB3EF4-88E8-4C44-ACD9-4A29BA467B38}" type="slidenum">
              <a:rPr lang="en-US" smtClean="0"/>
              <a:t>3</a:t>
            </a:fld>
            <a:endParaRPr lang="en-US"/>
          </a:p>
        </p:txBody>
      </p:sp>
    </p:spTree>
    <p:extLst>
      <p:ext uri="{BB962C8B-B14F-4D97-AF65-F5344CB8AC3E}">
        <p14:creationId xmlns:p14="http://schemas.microsoft.com/office/powerpoint/2010/main" val="1497832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CB3EF4-88E8-4C44-ACD9-4A29BA467B38}" type="slidenum">
              <a:rPr lang="en-US" smtClean="0"/>
              <a:t>7</a:t>
            </a:fld>
            <a:endParaRPr lang="en-US"/>
          </a:p>
        </p:txBody>
      </p:sp>
    </p:spTree>
    <p:extLst>
      <p:ext uri="{BB962C8B-B14F-4D97-AF65-F5344CB8AC3E}">
        <p14:creationId xmlns:p14="http://schemas.microsoft.com/office/powerpoint/2010/main" val="25354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here's why this actually matters in your enterprise app. Without MCP, every time you want to connect AI to a database, or a CRM, or a file system, you're writing custom integration code. Custom auth, custom error handling, custom everything. And if you want to switch from Azure OpenAI to Claude? Good luck - you're rewriting everything.</a:t>
            </a:r>
          </a:p>
          <a:p>
            <a:r>
              <a:rPr lang="en-US" dirty="0"/>
              <a:t>MCP changes this. It's a standard protocol - think of it like REST for AI-to-tool communication. The MSSQL MCP Server we're using today? I could use it from a Python app tomorrow. Or a Node.js app. Or with Claude instead of Azure AI. Same server, zero code changes.</a:t>
            </a:r>
          </a:p>
          <a:p>
            <a:r>
              <a:rPr lang="en-US" dirty="0"/>
              <a:t>Security-wise, MCP gives you a proper boundary. The AI isn't executing arbitrary SQL - it's calling tools that the MCP server exposes. Want to prevent DELETE operations? Configure the MCP server. Want audit logs? They're built in.</a:t>
            </a:r>
          </a:p>
          <a:p>
            <a:r>
              <a:rPr lang="en-US" dirty="0"/>
              <a:t>Context wise: the AI tools need to know about the </a:t>
            </a:r>
            <a:r>
              <a:rPr lang="en-US" dirty="0" err="1"/>
              <a:t>db</a:t>
            </a:r>
            <a:r>
              <a:rPr lang="en-US" dirty="0"/>
              <a:t> schema, and you stuff that in the context </a:t>
            </a:r>
            <a:r>
              <a:rPr lang="en-US" dirty="0" err="1"/>
              <a:t>everytime</a:t>
            </a:r>
            <a:r>
              <a:rPr lang="en-US" dirty="0"/>
              <a:t>. Here the MCP Server provides tools that the AI can ask</a:t>
            </a:r>
          </a:p>
          <a:p>
            <a:r>
              <a:rPr lang="en-US" dirty="0"/>
              <a:t>Tool discovery: the MCP Server tells the AI what tools are available</a:t>
            </a:r>
          </a:p>
          <a:p>
            <a:r>
              <a:rPr lang="en-US" dirty="0"/>
              <a:t>And here's the business case: companies building AI apps right now are spending 80% of their time on integration plumbing and 20% on actual features. MCP flips that. You spend your time building features, not reinventing authentication and error handling.</a:t>
            </a:r>
          </a:p>
          <a:p>
            <a:r>
              <a:rPr lang="en-US" dirty="0"/>
              <a:t>This isn't academic. Microsoft is betting on this. They built the MSSQL MCP Server we're using. They're integrating MCP into VS Code, into Azure. This is becoming the standard, and if you're building enterprise AI apps, you want to be on the right side of that standard."</a:t>
            </a:r>
          </a:p>
          <a:p>
            <a:endParaRPr lang="en-US" dirty="0"/>
          </a:p>
        </p:txBody>
      </p:sp>
      <p:sp>
        <p:nvSpPr>
          <p:cNvPr id="4" name="Slide Number Placeholder 3"/>
          <p:cNvSpPr>
            <a:spLocks noGrp="1"/>
          </p:cNvSpPr>
          <p:nvPr>
            <p:ph type="sldNum" sz="quarter" idx="5"/>
          </p:nvPr>
        </p:nvSpPr>
        <p:spPr/>
        <p:txBody>
          <a:bodyPr/>
          <a:lstStyle/>
          <a:p>
            <a:fld id="{63CB3EF4-88E8-4C44-ACD9-4A29BA467B38}" type="slidenum">
              <a:rPr lang="en-US" smtClean="0"/>
              <a:t>8</a:t>
            </a:fld>
            <a:endParaRPr lang="en-US"/>
          </a:p>
        </p:txBody>
      </p:sp>
    </p:spTree>
    <p:extLst>
      <p:ext uri="{BB962C8B-B14F-4D97-AF65-F5344CB8AC3E}">
        <p14:creationId xmlns:p14="http://schemas.microsoft.com/office/powerpoint/2010/main" val="2610471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9A2A3E-F56C-412F-A3CB-21E0F8FB2F5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67608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D76C-3F08-3293-CC27-870468DEC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AF6354-0840-0240-3CC2-A5774F16F6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439357-F844-79A8-F619-049C3E6F72BA}"/>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5" name="Footer Placeholder 4">
            <a:extLst>
              <a:ext uri="{FF2B5EF4-FFF2-40B4-BE49-F238E27FC236}">
                <a16:creationId xmlns:a16="http://schemas.microsoft.com/office/drawing/2014/main" id="{6EBF541E-908E-84E3-1B23-2E1EA1ECD4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7F5A0-E079-599F-5D5A-6A215F874126}"/>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2516761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95DB1-C320-A9A7-5C51-D650FF7864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025B6-101D-F7B1-F671-D879409B19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6E941C-4ECB-6E6C-4F56-06906DF4AAA1}"/>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5" name="Footer Placeholder 4">
            <a:extLst>
              <a:ext uri="{FF2B5EF4-FFF2-40B4-BE49-F238E27FC236}">
                <a16:creationId xmlns:a16="http://schemas.microsoft.com/office/drawing/2014/main" id="{8A708C39-197A-7E2F-9C94-DDEB7E99C1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B8CD6B-49AA-C8FC-1D01-941D3D716EAE}"/>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942856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61CC-9BA6-BDA8-7A13-18B205E0ED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C7213C-0765-7356-7007-8519BD7A9C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EFF51E-7107-AEF2-7C20-834911A0477B}"/>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5" name="Footer Placeholder 4">
            <a:extLst>
              <a:ext uri="{FF2B5EF4-FFF2-40B4-BE49-F238E27FC236}">
                <a16:creationId xmlns:a16="http://schemas.microsoft.com/office/drawing/2014/main" id="{D60CDE3C-4FD8-FC6A-1F6C-DB9FC256EF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CC64B1-1D3B-1A2D-C036-CB5078E992B5}"/>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1294719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08731-3000-DA58-FD3B-C38205E5E6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6C8B97-DF00-BA9D-9142-B12DBEF478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038C5B-E566-667D-9E8C-B8E342F5E0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A9F9DE-1BEA-3724-DE7A-FEAEFA0FF207}"/>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6" name="Footer Placeholder 5">
            <a:extLst>
              <a:ext uri="{FF2B5EF4-FFF2-40B4-BE49-F238E27FC236}">
                <a16:creationId xmlns:a16="http://schemas.microsoft.com/office/drawing/2014/main" id="{A8E9F944-9AC3-BBE0-D964-2A004449C0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F20FB8-ECD8-0D99-68F3-5E669C33F49D}"/>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32803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B4530-6EDD-0462-AD32-F55E9BA2A4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7E745C-12D6-0A7B-4B3F-032F47C630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21512B-18E8-EFCB-2C54-5F86F78066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1F107B-E016-E774-AAB9-A01FA922BB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B891E2-C0FA-1FD0-D165-F1326ED5B0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37402D-591F-EEA8-8032-624A20053338}"/>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8" name="Footer Placeholder 7">
            <a:extLst>
              <a:ext uri="{FF2B5EF4-FFF2-40B4-BE49-F238E27FC236}">
                <a16:creationId xmlns:a16="http://schemas.microsoft.com/office/drawing/2014/main" id="{80EF9049-598E-F21F-4729-7B6AEA80F0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4F866C-6C35-1A9F-2587-E90696E89316}"/>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1864648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97C1D-C0AB-4705-3827-1C1C390AC4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84F5A9-41FD-F3B4-FF6B-013A788ED68B}"/>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4" name="Footer Placeholder 3">
            <a:extLst>
              <a:ext uri="{FF2B5EF4-FFF2-40B4-BE49-F238E27FC236}">
                <a16:creationId xmlns:a16="http://schemas.microsoft.com/office/drawing/2014/main" id="{84538161-87F5-BFD8-8832-E4CA86F163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91CC66-8A7F-82E6-FE50-36E9DF9E96EF}"/>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516955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69BAB1-3993-DAC8-D1DA-C317831736C8}"/>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3" name="Footer Placeholder 2">
            <a:extLst>
              <a:ext uri="{FF2B5EF4-FFF2-40B4-BE49-F238E27FC236}">
                <a16:creationId xmlns:a16="http://schemas.microsoft.com/office/drawing/2014/main" id="{C10EE2E0-9785-C5A8-86D2-2C8EF1EB69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0C69EC-9A62-8AF2-76C4-0D7FF9733C98}"/>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2196535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9B4C-69AF-F7EE-529B-86B4D2A91A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00BA44-6243-4FF1-40BA-933C5C2BD2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C65238-82A6-1D8D-E690-EA59612E11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1F6C12-DBA8-FE51-6591-F7FDCC60A3CE}"/>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6" name="Footer Placeholder 5">
            <a:extLst>
              <a:ext uri="{FF2B5EF4-FFF2-40B4-BE49-F238E27FC236}">
                <a16:creationId xmlns:a16="http://schemas.microsoft.com/office/drawing/2014/main" id="{9A9E5FE1-77A4-3C55-E21F-B56F47D424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6FDAAE-A508-E442-AF77-0055C14FD04A}"/>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523548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CD84-2162-620B-9DC6-44F1BB9BF7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98577B-D0CE-5C76-75F6-6047DA504E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B8AB3F-F7E7-04F0-F89D-8A26F3321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A7CC2D-AB93-6CA4-31E5-707CA13DC03E}"/>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6" name="Footer Placeholder 5">
            <a:extLst>
              <a:ext uri="{FF2B5EF4-FFF2-40B4-BE49-F238E27FC236}">
                <a16:creationId xmlns:a16="http://schemas.microsoft.com/office/drawing/2014/main" id="{5DC72957-15B5-B25E-4241-3939586093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12A36F-59DF-D04B-5324-8DE9E32A859F}"/>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1595831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DA25E-EF28-5737-4160-2E6B37277F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94C42C-D68A-5E01-8097-ED34435F97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F20583-C8F2-7FE0-2751-86BC4E20307C}"/>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5" name="Footer Placeholder 4">
            <a:extLst>
              <a:ext uri="{FF2B5EF4-FFF2-40B4-BE49-F238E27FC236}">
                <a16:creationId xmlns:a16="http://schemas.microsoft.com/office/drawing/2014/main" id="{74B1E397-377B-A794-060B-AF4B604F86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05EA4-780D-470C-CCC1-CC8CABB26B28}"/>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339309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236493-0EFB-EA65-E70B-FFBBE9A9A6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EFF91A-D832-9BDE-2C77-86B5B8FF9F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FC7492-BEE7-C02D-A0CF-DF1882A9C04E}"/>
              </a:ext>
            </a:extLst>
          </p:cNvPr>
          <p:cNvSpPr>
            <a:spLocks noGrp="1"/>
          </p:cNvSpPr>
          <p:nvPr>
            <p:ph type="dt" sz="half" idx="10"/>
          </p:nvPr>
        </p:nvSpPr>
        <p:spPr/>
        <p:txBody>
          <a:bodyPr/>
          <a:lstStyle/>
          <a:p>
            <a:fld id="{2C846FF3-5801-4186-ADA5-4C3C17C77B4C}" type="datetimeFigureOut">
              <a:rPr lang="en-US" smtClean="0"/>
              <a:t>2025-12-07</a:t>
            </a:fld>
            <a:endParaRPr lang="en-US"/>
          </a:p>
        </p:txBody>
      </p:sp>
      <p:sp>
        <p:nvSpPr>
          <p:cNvPr id="5" name="Footer Placeholder 4">
            <a:extLst>
              <a:ext uri="{FF2B5EF4-FFF2-40B4-BE49-F238E27FC236}">
                <a16:creationId xmlns:a16="http://schemas.microsoft.com/office/drawing/2014/main" id="{C514E827-2A2B-94CC-29C8-DC37151F20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68D489-2179-B5A6-8429-7D21F3839646}"/>
              </a:ext>
            </a:extLst>
          </p:cNvPr>
          <p:cNvSpPr>
            <a:spLocks noGrp="1"/>
          </p:cNvSpPr>
          <p:nvPr>
            <p:ph type="sldNum" sz="quarter" idx="12"/>
          </p:nvPr>
        </p:nvSpPr>
        <p:spPr/>
        <p:txBody>
          <a:bodyPr/>
          <a:lstStyle/>
          <a:p>
            <a:fld id="{902F192F-64D5-4FE4-9418-88DAA63E3FE1}" type="slidenum">
              <a:rPr lang="en-US" smtClean="0"/>
              <a:t>‹#›</a:t>
            </a:fld>
            <a:endParaRPr lang="en-US"/>
          </a:p>
        </p:txBody>
      </p:sp>
    </p:spTree>
    <p:extLst>
      <p:ext uri="{BB962C8B-B14F-4D97-AF65-F5344CB8AC3E}">
        <p14:creationId xmlns:p14="http://schemas.microsoft.com/office/powerpoint/2010/main" val="3881543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E581-F694-06F8-7B20-E89E956B58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882781-563D-169A-2C2E-A43CC87DD6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52E662-7E20-5B84-69D0-A84E725EBF5C}"/>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5" name="Footer Placeholder 4">
            <a:extLst>
              <a:ext uri="{FF2B5EF4-FFF2-40B4-BE49-F238E27FC236}">
                <a16:creationId xmlns:a16="http://schemas.microsoft.com/office/drawing/2014/main" id="{47952072-1E4D-CAF1-49A1-0786A7C67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E616FB-6D8B-1CF0-C331-06557DC494DB}"/>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4078036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B449-78E8-EF19-CA64-2C37C84D53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16A1A-C6B1-064D-629F-10F9325CFA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457F5D-0846-72C4-FD43-9BBCEEFBBC63}"/>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5" name="Footer Placeholder 4">
            <a:extLst>
              <a:ext uri="{FF2B5EF4-FFF2-40B4-BE49-F238E27FC236}">
                <a16:creationId xmlns:a16="http://schemas.microsoft.com/office/drawing/2014/main" id="{681F36A5-FB43-09AD-0A52-FC16F99B9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BBE11D-9AC7-E7DB-41C2-654FA8EF601C}"/>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1431601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5E033-B1CB-9760-2147-F037350709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A1E7DF-6870-5CA3-7370-A40A51D366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2A86A8-FCF7-DA0E-081A-874BD0024F66}"/>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5" name="Footer Placeholder 4">
            <a:extLst>
              <a:ext uri="{FF2B5EF4-FFF2-40B4-BE49-F238E27FC236}">
                <a16:creationId xmlns:a16="http://schemas.microsoft.com/office/drawing/2014/main" id="{FD4F4D99-0089-9002-4A16-9A45F7B787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C23B9-621E-AEC4-A1CA-B6F91169F21F}"/>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1185157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60D82-79A4-0B25-6DF9-3D95684CC3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420757-9153-C92D-C344-2F0B7205BE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F26FFF-1101-8541-727F-01376FD090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439EBB-302E-859E-6456-136F2244C520}"/>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6" name="Footer Placeholder 5">
            <a:extLst>
              <a:ext uri="{FF2B5EF4-FFF2-40B4-BE49-F238E27FC236}">
                <a16:creationId xmlns:a16="http://schemas.microsoft.com/office/drawing/2014/main" id="{315EFCCB-AE50-F9F7-8386-BD14EBF328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682A78-E80A-55D7-9324-924BF0CD0ABC}"/>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3229319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2F572-A3A3-E0BD-E929-C119F7F529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8A070B-51D0-56BD-C8EA-85B4DD07D8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65657A-D65C-7A3F-9455-4AF7D4A75F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029E49-E26D-9404-653D-C1D900605C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32E491-AAC0-3A3D-3BCA-439F9FA517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680895-F7C0-6F62-515C-FEC4F7638707}"/>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8" name="Footer Placeholder 7">
            <a:extLst>
              <a:ext uri="{FF2B5EF4-FFF2-40B4-BE49-F238E27FC236}">
                <a16:creationId xmlns:a16="http://schemas.microsoft.com/office/drawing/2014/main" id="{34D74E58-0FAB-1804-A3B3-F56878A651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E94DC9-2A1F-FC62-10E4-D234875AFF5D}"/>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31041954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48707-65BB-6201-7F8B-0AD2017762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C7FADE-63C2-1A5A-2BD3-55BA9C233E4E}"/>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4" name="Footer Placeholder 3">
            <a:extLst>
              <a:ext uri="{FF2B5EF4-FFF2-40B4-BE49-F238E27FC236}">
                <a16:creationId xmlns:a16="http://schemas.microsoft.com/office/drawing/2014/main" id="{3BDCBC98-36BC-7295-9F6A-F7FF7972C6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78E4BC-4EC4-7DD7-0B3D-C2457EEDE5F6}"/>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10347812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5B4E1C-4949-33CB-0589-DA3700FAE522}"/>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3" name="Footer Placeholder 2">
            <a:extLst>
              <a:ext uri="{FF2B5EF4-FFF2-40B4-BE49-F238E27FC236}">
                <a16:creationId xmlns:a16="http://schemas.microsoft.com/office/drawing/2014/main" id="{438C83C6-6042-3996-B530-A95F25C3F7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D679F7-2636-0714-9251-4FBC06976F14}"/>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3002177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1C47-B689-0493-F4FA-2023011CBF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BEBF45-3322-EA86-35F0-C310138BC5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90178FE-81DB-7F56-8875-141FB71F4C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64CAA9-ADD3-A27F-220A-CA334BEA233D}"/>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6" name="Footer Placeholder 5">
            <a:extLst>
              <a:ext uri="{FF2B5EF4-FFF2-40B4-BE49-F238E27FC236}">
                <a16:creationId xmlns:a16="http://schemas.microsoft.com/office/drawing/2014/main" id="{E332A5E3-2187-260C-AA3E-263565985C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D042E-C33C-6D20-B962-D9A35DF27154}"/>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14153171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B2A1-571E-BD3D-8B38-FABD56C66B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0FE74C-A4B1-5F52-454B-83AB0F52F6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43F5C6-D0A7-4C7E-F341-0E0DAAC6E2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4DD0CE-D34E-BDC0-7065-70F1962B8A9F}"/>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6" name="Footer Placeholder 5">
            <a:extLst>
              <a:ext uri="{FF2B5EF4-FFF2-40B4-BE49-F238E27FC236}">
                <a16:creationId xmlns:a16="http://schemas.microsoft.com/office/drawing/2014/main" id="{63F67885-647B-3079-8E85-363EE575C2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B6BF91-451A-0108-9EBD-DF9A81811422}"/>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18143117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A9457-4E5D-9597-4623-BBD5FB774D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4B3619-0266-2264-9874-7CED2E07DA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103265-1121-5292-6225-C6264928CBB4}"/>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5" name="Footer Placeholder 4">
            <a:extLst>
              <a:ext uri="{FF2B5EF4-FFF2-40B4-BE49-F238E27FC236}">
                <a16:creationId xmlns:a16="http://schemas.microsoft.com/office/drawing/2014/main" id="{E5D5C562-DC46-85EA-DF44-02A3DA7E7F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848158-FDEC-60AB-E2BC-E54E4962E2F6}"/>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35465671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0A88D-8508-C50D-1FFC-FA83E37E90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3C8B90-1FF1-12EE-8854-9B715234F0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256110-EBA5-2271-B3BB-B03E8BD4D775}"/>
              </a:ext>
            </a:extLst>
          </p:cNvPr>
          <p:cNvSpPr>
            <a:spLocks noGrp="1"/>
          </p:cNvSpPr>
          <p:nvPr>
            <p:ph type="dt" sz="half" idx="10"/>
          </p:nvPr>
        </p:nvSpPr>
        <p:spPr/>
        <p:txBody>
          <a:bodyPr/>
          <a:lstStyle/>
          <a:p>
            <a:fld id="{35E7EF3B-1460-4EE6-BB1F-95D983DE5504}" type="datetimeFigureOut">
              <a:rPr lang="en-US" smtClean="0"/>
              <a:t>2025-12-07</a:t>
            </a:fld>
            <a:endParaRPr lang="en-US"/>
          </a:p>
        </p:txBody>
      </p:sp>
      <p:sp>
        <p:nvSpPr>
          <p:cNvPr id="5" name="Footer Placeholder 4">
            <a:extLst>
              <a:ext uri="{FF2B5EF4-FFF2-40B4-BE49-F238E27FC236}">
                <a16:creationId xmlns:a16="http://schemas.microsoft.com/office/drawing/2014/main" id="{56858927-8AD4-C13A-382B-C4BD3F2209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5CCB3-8F82-9B15-9A7B-FEDF293565A4}"/>
              </a:ext>
            </a:extLst>
          </p:cNvPr>
          <p:cNvSpPr>
            <a:spLocks noGrp="1"/>
          </p:cNvSpPr>
          <p:nvPr>
            <p:ph type="sldNum" sz="quarter" idx="12"/>
          </p:nvPr>
        </p:nvSpPr>
        <p:spPr/>
        <p:txBody>
          <a:bodyPr/>
          <a:lstStyle/>
          <a:p>
            <a:fld id="{44C9D9A8-2F74-46B8-BC58-D20E408B1D07}" type="slidenum">
              <a:rPr lang="en-US" smtClean="0"/>
              <a:t>‹#›</a:t>
            </a:fld>
            <a:endParaRPr lang="en-US"/>
          </a:p>
        </p:txBody>
      </p:sp>
    </p:spTree>
    <p:extLst>
      <p:ext uri="{BB962C8B-B14F-4D97-AF65-F5344CB8AC3E}">
        <p14:creationId xmlns:p14="http://schemas.microsoft.com/office/powerpoint/2010/main" val="19983751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0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11"/>
            <a:ext cx="11271250" cy="899665"/>
          </a:xfrm>
        </p:spPr>
        <p:txBody>
          <a:bodyPr/>
          <a:lstStyle>
            <a:lvl1pPr>
              <a:defRPr sz="3600"/>
            </a:lvl1pPr>
          </a:lstStyle>
          <a:p>
            <a:r>
              <a:rPr lang="en-US"/>
              <a:t>Click to edit Master title style</a:t>
            </a:r>
          </a:p>
        </p:txBody>
      </p:sp>
    </p:spTree>
    <p:extLst>
      <p:ext uri="{BB962C8B-B14F-4D97-AF65-F5344CB8AC3E}">
        <p14:creationId xmlns:p14="http://schemas.microsoft.com/office/powerpoint/2010/main" val="1037134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DCC5B-AE94-C562-AB0B-A320CBDAAD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FAC4E2-9604-B64D-57B2-6F9F8EF907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A01663-0C8B-C4E2-C4F2-4F9637DBA2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846FF3-5801-4186-ADA5-4C3C17C77B4C}" type="datetimeFigureOut">
              <a:rPr lang="en-US" smtClean="0"/>
              <a:t>2025-12-07</a:t>
            </a:fld>
            <a:endParaRPr lang="en-US"/>
          </a:p>
        </p:txBody>
      </p:sp>
      <p:sp>
        <p:nvSpPr>
          <p:cNvPr id="5" name="Footer Placeholder 4">
            <a:extLst>
              <a:ext uri="{FF2B5EF4-FFF2-40B4-BE49-F238E27FC236}">
                <a16:creationId xmlns:a16="http://schemas.microsoft.com/office/drawing/2014/main" id="{83CA5331-5C49-3206-621A-543C7B670F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410E2E-DCF4-C263-60B0-2F34644B12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2F192F-64D5-4FE4-9418-88DAA63E3FE1}" type="slidenum">
              <a:rPr lang="en-US" smtClean="0"/>
              <a:t>‹#›</a:t>
            </a:fld>
            <a:endParaRPr lang="en-US"/>
          </a:p>
        </p:txBody>
      </p:sp>
    </p:spTree>
    <p:extLst>
      <p:ext uri="{BB962C8B-B14F-4D97-AF65-F5344CB8AC3E}">
        <p14:creationId xmlns:p14="http://schemas.microsoft.com/office/powerpoint/2010/main" val="209911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4F2420-017F-5084-F06B-417996AD4E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2F884D2-12DD-AF1F-9CD3-8373CAD8D3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67C88AA-E47E-471A-3ABF-7E4D31FC8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E7EF3B-1460-4EE6-BB1F-95D983DE5504}" type="datetimeFigureOut">
              <a:rPr lang="en-US" smtClean="0"/>
              <a:t>2025-12-07</a:t>
            </a:fld>
            <a:endParaRPr lang="en-US"/>
          </a:p>
        </p:txBody>
      </p:sp>
      <p:sp>
        <p:nvSpPr>
          <p:cNvPr id="5" name="Footer Placeholder 4">
            <a:extLst>
              <a:ext uri="{FF2B5EF4-FFF2-40B4-BE49-F238E27FC236}">
                <a16:creationId xmlns:a16="http://schemas.microsoft.com/office/drawing/2014/main" id="{1AFBE164-DDE3-D642-F40A-45A3DDF283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D3915C-3858-3B10-6604-382DA29B8B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C9D9A8-2F74-46B8-BC58-D20E408B1D07}" type="slidenum">
              <a:rPr lang="en-US" smtClean="0"/>
              <a:t>‹#›</a:t>
            </a:fld>
            <a:endParaRPr lang="en-US"/>
          </a:p>
        </p:txBody>
      </p:sp>
    </p:spTree>
    <p:extLst>
      <p:ext uri="{BB962C8B-B14F-4D97-AF65-F5344CB8AC3E}">
        <p14:creationId xmlns:p14="http://schemas.microsoft.com/office/powerpoint/2010/main" val="35225710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bg1">
              <a:lumMod val="95000"/>
            </a:schemeClr>
          </a:solidFill>
          <a:latin typeface="Arial Rounded MT Bold" panose="020F07040305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Arial Rounded MT Bold" panose="020F07040305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Arial Rounded MT Bold" panose="020F07040305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Arial Rounded MT Bold" panose="020F07040305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Arial Rounded MT Bold" panose="020F07040305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Arial Rounded MT Bold" panose="020F07040305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blue and purple light in space&#10;&#10;AI-generated content may be incorrect.">
            <a:extLst>
              <a:ext uri="{FF2B5EF4-FFF2-40B4-BE49-F238E27FC236}">
                <a16:creationId xmlns:a16="http://schemas.microsoft.com/office/drawing/2014/main" id="{24DE9808-69CC-D225-C7D4-2056390575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 0">
            <a:extLst>
              <a:ext uri="{FF2B5EF4-FFF2-40B4-BE49-F238E27FC236}">
                <a16:creationId xmlns:a16="http://schemas.microsoft.com/office/drawing/2014/main" id="{EE2CDBA7-606A-0BFA-3A26-E9104EEB72C7}"/>
              </a:ext>
            </a:extLst>
          </p:cNvPr>
          <p:cNvSpPr/>
          <p:nvPr/>
        </p:nvSpPr>
        <p:spPr>
          <a:xfrm>
            <a:off x="400593" y="1248413"/>
            <a:ext cx="11390810" cy="914400"/>
          </a:xfrm>
          <a:prstGeom prst="rect">
            <a:avLst/>
          </a:prstGeom>
          <a:noFill/>
          <a:ln/>
        </p:spPr>
        <p:txBody>
          <a:bodyPr wrap="square" lIns="0" tIns="0" rIns="0" bIns="0" rtlCol="0" anchor="t"/>
          <a:lstStyle/>
          <a:p>
            <a:pPr marL="0" indent="0" algn="ctr">
              <a:lnSpc>
                <a:spcPts val="7200"/>
              </a:lnSpc>
              <a:spcAft>
                <a:spcPts val="2000"/>
              </a:spcAft>
              <a:buNone/>
            </a:pPr>
            <a:r>
              <a:rPr lang="en-US" sz="6000" b="1" dirty="0">
                <a:solidFill>
                  <a:schemeClr val="bg1">
                    <a:lumMod val="85000"/>
                  </a:schemeClr>
                </a:solidFill>
                <a:latin typeface="Arial Rounded MT Bold" pitchFamily="34" charset="0"/>
                <a:ea typeface="Arial Rounded MT Bold" pitchFamily="34" charset="-122"/>
                <a:cs typeface="Arial Rounded MT Bold" pitchFamily="34" charset="-120"/>
              </a:rPr>
              <a:t>Inside the Black Box</a:t>
            </a:r>
            <a:endParaRPr lang="en-US" sz="6000" dirty="0">
              <a:solidFill>
                <a:schemeClr val="bg1">
                  <a:lumMod val="85000"/>
                </a:schemeClr>
              </a:solidFill>
            </a:endParaRPr>
          </a:p>
        </p:txBody>
      </p:sp>
      <p:sp>
        <p:nvSpPr>
          <p:cNvPr id="7" name="Text 1">
            <a:extLst>
              <a:ext uri="{FF2B5EF4-FFF2-40B4-BE49-F238E27FC236}">
                <a16:creationId xmlns:a16="http://schemas.microsoft.com/office/drawing/2014/main" id="{E5D20DAC-168F-C865-0AFC-10BE2F9B55B0}"/>
              </a:ext>
            </a:extLst>
          </p:cNvPr>
          <p:cNvSpPr/>
          <p:nvPr/>
        </p:nvSpPr>
        <p:spPr>
          <a:xfrm>
            <a:off x="1950667" y="2633370"/>
            <a:ext cx="8290661" cy="933450"/>
          </a:xfrm>
          <a:prstGeom prst="rect">
            <a:avLst/>
          </a:prstGeom>
          <a:noFill/>
          <a:ln/>
        </p:spPr>
        <p:txBody>
          <a:bodyPr wrap="square" lIns="0" tIns="0" rIns="0" bIns="0" rtlCol="0" anchor="t"/>
          <a:lstStyle/>
          <a:p>
            <a:pPr algn="ctr">
              <a:spcAft>
                <a:spcPts val="4000"/>
              </a:spcAft>
            </a:pPr>
            <a:r>
              <a:rPr lang="en-US" sz="3600" b="1" dirty="0">
                <a:solidFill>
                  <a:schemeClr val="bg1">
                    <a:lumMod val="85000"/>
                  </a:schemeClr>
                </a:solidFill>
                <a:latin typeface="Arial Rounded MT Bold" pitchFamily="34" charset="0"/>
                <a:ea typeface="Arial Rounded MT Bold" pitchFamily="34" charset="-122"/>
                <a:cs typeface="Arial Rounded MT Bold" pitchFamily="34" charset="-120"/>
              </a:rPr>
              <a:t>How MCP Servers Turn </a:t>
            </a:r>
            <a:r>
              <a:rPr lang="en-US" sz="3600" b="1" dirty="0" err="1">
                <a:solidFill>
                  <a:schemeClr val="bg1">
                    <a:lumMod val="85000"/>
                  </a:schemeClr>
                </a:solidFill>
                <a:latin typeface="Arial Rounded MT Bold" pitchFamily="34" charset="0"/>
                <a:ea typeface="Arial Rounded MT Bold" pitchFamily="34" charset="-122"/>
                <a:cs typeface="Arial Rounded MT Bold" pitchFamily="34" charset="-120"/>
              </a:rPr>
              <a:t>Converations</a:t>
            </a:r>
            <a:r>
              <a:rPr lang="en-US" sz="3600" b="1" dirty="0">
                <a:solidFill>
                  <a:schemeClr val="bg1">
                    <a:lumMod val="85000"/>
                  </a:schemeClr>
                </a:solidFill>
                <a:latin typeface="Arial Rounded MT Bold" pitchFamily="34" charset="0"/>
                <a:ea typeface="Arial Rounded MT Bold" pitchFamily="34" charset="-122"/>
                <a:cs typeface="Arial Rounded MT Bold" pitchFamily="34" charset="-120"/>
              </a:rPr>
              <a:t> Into Database Operations</a:t>
            </a:r>
            <a:endParaRPr lang="en-US" sz="3600" dirty="0">
              <a:solidFill>
                <a:schemeClr val="bg1">
                  <a:lumMod val="85000"/>
                </a:schemeClr>
              </a:solidFill>
            </a:endParaRPr>
          </a:p>
        </p:txBody>
      </p:sp>
      <p:sp>
        <p:nvSpPr>
          <p:cNvPr id="10" name="Subtitle 2">
            <a:extLst>
              <a:ext uri="{FF2B5EF4-FFF2-40B4-BE49-F238E27FC236}">
                <a16:creationId xmlns:a16="http://schemas.microsoft.com/office/drawing/2014/main" id="{9BFC5DC1-A301-8267-2F39-C786140E5576}"/>
              </a:ext>
            </a:extLst>
          </p:cNvPr>
          <p:cNvSpPr txBox="1">
            <a:spLocks/>
          </p:cNvSpPr>
          <p:nvPr/>
        </p:nvSpPr>
        <p:spPr>
          <a:xfrm>
            <a:off x="1014399" y="4325626"/>
            <a:ext cx="7345829" cy="219099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solidFill>
                  <a:schemeClr val="bg1">
                    <a:lumMod val="85000"/>
                  </a:schemeClr>
                </a:solidFill>
                <a:latin typeface="Arial Rounded MT Bold" panose="020F0704030504030204" pitchFamily="34" charset="0"/>
              </a:rPr>
              <a:t>Niels Berglund</a:t>
            </a:r>
          </a:p>
          <a:p>
            <a:pPr algn="l"/>
            <a:r>
              <a:rPr lang="en-US" sz="2200" dirty="0">
                <a:solidFill>
                  <a:schemeClr val="bg1">
                    <a:lumMod val="85000"/>
                  </a:schemeClr>
                </a:solidFill>
                <a:latin typeface="Arial Rounded MT Bold" panose="020F0704030504030204" pitchFamily="34" charset="0"/>
              </a:rPr>
              <a:t>AI / Software Architect Lead Derivco</a:t>
            </a:r>
          </a:p>
          <a:p>
            <a:pPr algn="l"/>
            <a:r>
              <a:rPr lang="en-US" sz="2200" dirty="0">
                <a:solidFill>
                  <a:schemeClr val="bg1">
                    <a:lumMod val="85000"/>
                  </a:schemeClr>
                </a:solidFill>
                <a:latin typeface="Arial Rounded MT Bold" panose="020F0704030504030204" pitchFamily="34" charset="0"/>
              </a:rPr>
              <a:t>niels.it.berglund@gmail.com</a:t>
            </a:r>
          </a:p>
          <a:p>
            <a:pPr algn="l"/>
            <a:r>
              <a:rPr lang="en-US" sz="2200" dirty="0">
                <a:solidFill>
                  <a:schemeClr val="bg1">
                    <a:lumMod val="85000"/>
                  </a:schemeClr>
                </a:solidFill>
                <a:latin typeface="Arial Rounded MT Bold" panose="020F0704030504030204" pitchFamily="34" charset="0"/>
              </a:rPr>
              <a:t>https://nielsberglund.com</a:t>
            </a:r>
          </a:p>
          <a:p>
            <a:pPr algn="l"/>
            <a:r>
              <a:rPr lang="en-US" sz="2200" dirty="0">
                <a:solidFill>
                  <a:schemeClr val="bg1">
                    <a:lumMod val="85000"/>
                  </a:schemeClr>
                </a:solidFill>
                <a:latin typeface="Arial Rounded MT Bold" panose="020F0704030504030204" pitchFamily="34" charset="0"/>
              </a:rPr>
              <a:t>https://linkedin.com/in/nielsberglund</a:t>
            </a:r>
          </a:p>
          <a:p>
            <a:pPr algn="l"/>
            <a:endParaRPr lang="en-US" sz="2000" dirty="0">
              <a:solidFill>
                <a:prstClr val="black"/>
              </a:solidFill>
              <a:latin typeface="Aptos" panose="02110004020202020204"/>
            </a:endParaRPr>
          </a:p>
        </p:txBody>
      </p:sp>
    </p:spTree>
    <p:extLst>
      <p:ext uri="{BB962C8B-B14F-4D97-AF65-F5344CB8AC3E}">
        <p14:creationId xmlns:p14="http://schemas.microsoft.com/office/powerpoint/2010/main" val="3785071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background with blue waves&#10;&#10;AI-generated content may be incorrect.">
            <a:extLst>
              <a:ext uri="{FF2B5EF4-FFF2-40B4-BE49-F238E27FC236}">
                <a16:creationId xmlns:a16="http://schemas.microsoft.com/office/drawing/2014/main" id="{A904B263-900C-1311-F9D8-A3509CE735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9348"/>
            <a:ext cx="12192000" cy="7157348"/>
          </a:xfrm>
          <a:prstGeom prst="rect">
            <a:avLst/>
          </a:prstGeom>
        </p:spPr>
      </p:pic>
      <p:sp>
        <p:nvSpPr>
          <p:cNvPr id="18" name="Title 1">
            <a:extLst>
              <a:ext uri="{FF2B5EF4-FFF2-40B4-BE49-F238E27FC236}">
                <a16:creationId xmlns:a16="http://schemas.microsoft.com/office/drawing/2014/main" id="{4EE5CCFA-2CF9-A362-D6F0-7147937F805A}"/>
              </a:ext>
            </a:extLst>
          </p:cNvPr>
          <p:cNvSpPr txBox="1">
            <a:spLocks/>
          </p:cNvSpPr>
          <p:nvPr/>
        </p:nvSpPr>
        <p:spPr>
          <a:xfrm>
            <a:off x="588263" y="307910"/>
            <a:ext cx="11018520" cy="67710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50" normalizeH="0" baseline="0" noProof="0" dirty="0">
                <a:ln w="3175">
                  <a:noFill/>
                </a:ln>
                <a:effectLst/>
                <a:uLnTx/>
                <a:uFillTx/>
                <a:latin typeface="Arial Rounded MT Bold" panose="020F0704030504030204" pitchFamily="34" charset="0"/>
                <a:ea typeface="+mn-ea"/>
                <a:cs typeface="Segoe UI" pitchFamily="34" charset="0"/>
              </a:rPr>
              <a:t>The Date</a:t>
            </a:r>
          </a:p>
        </p:txBody>
      </p:sp>
      <p:sp>
        <p:nvSpPr>
          <p:cNvPr id="12" name="Title 1">
            <a:extLst>
              <a:ext uri="{FF2B5EF4-FFF2-40B4-BE49-F238E27FC236}">
                <a16:creationId xmlns:a16="http://schemas.microsoft.com/office/drawing/2014/main" id="{8F076618-70B8-1760-E301-2A8DE85CC216}"/>
              </a:ext>
            </a:extLst>
          </p:cNvPr>
          <p:cNvSpPr txBox="1">
            <a:spLocks/>
          </p:cNvSpPr>
          <p:nvPr/>
        </p:nvSpPr>
        <p:spPr>
          <a:xfrm>
            <a:off x="2613102" y="2716622"/>
            <a:ext cx="6965796" cy="67710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ctr"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50" normalizeH="0" baseline="0" noProof="0" dirty="0">
                <a:ln w="3175">
                  <a:noFill/>
                </a:ln>
                <a:effectLst/>
                <a:uLnTx/>
                <a:uFillTx/>
                <a:latin typeface="Arial Rounded MT Bold" panose="020F0704030504030204" pitchFamily="34" charset="0"/>
                <a:ea typeface="+mn-ea"/>
                <a:cs typeface="Segoe UI" pitchFamily="34" charset="0"/>
              </a:rPr>
              <a:t>30 November 2022</a:t>
            </a:r>
            <a:endParaRPr kumimoji="0" lang="en-CA" sz="4400" b="0" i="0" u="none" strike="noStrike" kern="1200" cap="none" spc="-30" normalizeH="0" baseline="0" noProof="0" dirty="0">
              <a:ln w="3175">
                <a:noFill/>
              </a:ln>
              <a:effectLst/>
              <a:uLnTx/>
              <a:uFillTx/>
              <a:latin typeface="Arial Rounded MT Bold" panose="020F0704030504030204" pitchFamily="34" charset="0"/>
              <a:ea typeface="+mn-ea"/>
              <a:cs typeface="Segoe UI" pitchFamily="34" charset="0"/>
            </a:endParaRPr>
          </a:p>
        </p:txBody>
      </p:sp>
    </p:spTree>
    <p:extLst>
      <p:ext uri="{BB962C8B-B14F-4D97-AF65-F5344CB8AC3E}">
        <p14:creationId xmlns:p14="http://schemas.microsoft.com/office/powerpoint/2010/main" val="16446264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white background with blue waves&#10;&#10;AI-generated content may be incorrect.">
            <a:extLst>
              <a:ext uri="{FF2B5EF4-FFF2-40B4-BE49-F238E27FC236}">
                <a16:creationId xmlns:a16="http://schemas.microsoft.com/office/drawing/2014/main" id="{43C7D197-87E5-808B-80E0-033DFA36A5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5" name="Title 4">
            <a:extLst>
              <a:ext uri="{FF2B5EF4-FFF2-40B4-BE49-F238E27FC236}">
                <a16:creationId xmlns:a16="http://schemas.microsoft.com/office/drawing/2014/main" id="{6733B781-9C25-78D0-B561-27C0F509AD35}"/>
              </a:ext>
            </a:extLst>
          </p:cNvPr>
          <p:cNvSpPr>
            <a:spLocks noGrp="1"/>
          </p:cNvSpPr>
          <p:nvPr>
            <p:ph type="title"/>
          </p:nvPr>
        </p:nvSpPr>
        <p:spPr/>
        <p:txBody>
          <a:bodyPr/>
          <a:lstStyle/>
          <a:p>
            <a:r>
              <a:rPr lang="en-US" dirty="0">
                <a:latin typeface="Arial Rounded MT Bold" panose="020F0704030504030204" pitchFamily="34" charset="0"/>
              </a:rPr>
              <a:t>The MCP Tutorial Problem</a:t>
            </a:r>
          </a:p>
        </p:txBody>
      </p:sp>
      <p:pic>
        <p:nvPicPr>
          <p:cNvPr id="7" name="Picture 6" descr="A line of people standing in front of a building&#10;&#10;AI-generated content may be incorrect.">
            <a:extLst>
              <a:ext uri="{FF2B5EF4-FFF2-40B4-BE49-F238E27FC236}">
                <a16:creationId xmlns:a16="http://schemas.microsoft.com/office/drawing/2014/main" id="{C5414CAD-BBE5-F820-D6DC-CAF92C81AD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9363" y="2051531"/>
            <a:ext cx="4858512" cy="3173611"/>
          </a:xfrm>
          <a:prstGeom prst="rect">
            <a:avLst/>
          </a:prstGeom>
        </p:spPr>
      </p:pic>
      <p:pic>
        <p:nvPicPr>
          <p:cNvPr id="9" name="Picture 8" descr="A cartoon of a crowd of people&#10;&#10;AI-generated content may be incorrect.">
            <a:extLst>
              <a:ext uri="{FF2B5EF4-FFF2-40B4-BE49-F238E27FC236}">
                <a16:creationId xmlns:a16="http://schemas.microsoft.com/office/drawing/2014/main" id="{3111A7F0-00EA-FF47-030E-B3201B19BA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7197" y="2051532"/>
            <a:ext cx="4840224" cy="3173610"/>
          </a:xfrm>
          <a:prstGeom prst="rect">
            <a:avLst/>
          </a:prstGeom>
        </p:spPr>
      </p:pic>
    </p:spTree>
    <p:extLst>
      <p:ext uri="{BB962C8B-B14F-4D97-AF65-F5344CB8AC3E}">
        <p14:creationId xmlns:p14="http://schemas.microsoft.com/office/powerpoint/2010/main" val="781112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white background with blue waves&#10;&#10;AI-generated content may be incorrect.">
            <a:extLst>
              <a:ext uri="{FF2B5EF4-FFF2-40B4-BE49-F238E27FC236}">
                <a16:creationId xmlns:a16="http://schemas.microsoft.com/office/drawing/2014/main" id="{2063F8E0-A0B3-F953-C8C9-CB054F596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2" name="Title 1">
            <a:extLst>
              <a:ext uri="{FF2B5EF4-FFF2-40B4-BE49-F238E27FC236}">
                <a16:creationId xmlns:a16="http://schemas.microsoft.com/office/drawing/2014/main" id="{A03DCA35-D6B1-AD62-F311-BAD0A8061453}"/>
              </a:ext>
            </a:extLst>
          </p:cNvPr>
          <p:cNvSpPr>
            <a:spLocks noGrp="1"/>
          </p:cNvSpPr>
          <p:nvPr>
            <p:ph type="title"/>
          </p:nvPr>
        </p:nvSpPr>
        <p:spPr/>
        <p:txBody>
          <a:bodyPr/>
          <a:lstStyle/>
          <a:p>
            <a:r>
              <a:rPr lang="en-US" dirty="0">
                <a:latin typeface="Arial Rounded MT Bold" panose="020F0704030504030204" pitchFamily="34" charset="0"/>
              </a:rPr>
              <a:t>What We're Doing Today - I</a:t>
            </a:r>
          </a:p>
        </p:txBody>
      </p:sp>
      <p:sp>
        <p:nvSpPr>
          <p:cNvPr id="6" name="Text Placeholder 5">
            <a:extLst>
              <a:ext uri="{FF2B5EF4-FFF2-40B4-BE49-F238E27FC236}">
                <a16:creationId xmlns:a16="http://schemas.microsoft.com/office/drawing/2014/main" id="{D4BBF002-8800-67DF-6A4C-984FC462CB66}"/>
              </a:ext>
            </a:extLst>
          </p:cNvPr>
          <p:cNvSpPr>
            <a:spLocks noGrp="1"/>
          </p:cNvSpPr>
          <p:nvPr>
            <p:ph type="body" idx="1"/>
          </p:nvPr>
        </p:nvSpPr>
        <p:spPr>
          <a:xfrm>
            <a:off x="839788" y="2334306"/>
            <a:ext cx="6775858" cy="823912"/>
          </a:xfrm>
        </p:spPr>
        <p:txBody>
          <a:bodyPr anchor="ctr" anchorCtr="0">
            <a:noAutofit/>
          </a:bodyPr>
          <a:lstStyle/>
          <a:p>
            <a:r>
              <a:rPr lang="en-US" sz="4400" b="0" dirty="0">
                <a:latin typeface="Arial Rounded MT Bold" panose="020F0704030504030204" pitchFamily="34" charset="0"/>
              </a:rPr>
              <a:t>Demo</a:t>
            </a:r>
          </a:p>
        </p:txBody>
      </p:sp>
    </p:spTree>
    <p:extLst>
      <p:ext uri="{BB962C8B-B14F-4D97-AF65-F5344CB8AC3E}">
        <p14:creationId xmlns:p14="http://schemas.microsoft.com/office/powerpoint/2010/main" val="3354249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BF81C-79F3-C743-28C6-9A6C8C5E158B}"/>
            </a:ext>
          </a:extLst>
        </p:cNvPr>
        <p:cNvGrpSpPr/>
        <p:nvPr/>
      </p:nvGrpSpPr>
      <p:grpSpPr>
        <a:xfrm>
          <a:off x="0" y="0"/>
          <a:ext cx="0" cy="0"/>
          <a:chOff x="0" y="0"/>
          <a:chExt cx="0" cy="0"/>
        </a:xfrm>
      </p:grpSpPr>
      <p:pic>
        <p:nvPicPr>
          <p:cNvPr id="11" name="Picture 10" descr="A white background with blue waves&#10;&#10;AI-generated content may be incorrect.">
            <a:extLst>
              <a:ext uri="{FF2B5EF4-FFF2-40B4-BE49-F238E27FC236}">
                <a16:creationId xmlns:a16="http://schemas.microsoft.com/office/drawing/2014/main" id="{ECF32407-BACD-39A4-A624-4B9E90E04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8562"/>
            <a:ext cx="12192000" cy="6849438"/>
          </a:xfrm>
          <a:prstGeom prst="rect">
            <a:avLst/>
          </a:prstGeom>
        </p:spPr>
      </p:pic>
      <p:sp>
        <p:nvSpPr>
          <p:cNvPr id="2" name="Title 1">
            <a:extLst>
              <a:ext uri="{FF2B5EF4-FFF2-40B4-BE49-F238E27FC236}">
                <a16:creationId xmlns:a16="http://schemas.microsoft.com/office/drawing/2014/main" id="{3A455A93-0D72-3D24-38DF-83349677541B}"/>
              </a:ext>
            </a:extLst>
          </p:cNvPr>
          <p:cNvSpPr>
            <a:spLocks noGrp="1"/>
          </p:cNvSpPr>
          <p:nvPr>
            <p:ph type="title"/>
          </p:nvPr>
        </p:nvSpPr>
        <p:spPr/>
        <p:txBody>
          <a:bodyPr/>
          <a:lstStyle/>
          <a:p>
            <a:r>
              <a:rPr lang="en-US" dirty="0">
                <a:latin typeface="Arial Rounded MT Bold" panose="020F0704030504030204" pitchFamily="34" charset="0"/>
              </a:rPr>
              <a:t>What We're Doing Today - II</a:t>
            </a:r>
          </a:p>
        </p:txBody>
      </p:sp>
      <p:sp>
        <p:nvSpPr>
          <p:cNvPr id="6" name="Text Placeholder 5">
            <a:extLst>
              <a:ext uri="{FF2B5EF4-FFF2-40B4-BE49-F238E27FC236}">
                <a16:creationId xmlns:a16="http://schemas.microsoft.com/office/drawing/2014/main" id="{660AFA28-DDA3-03CE-9ABA-81D2D0785E82}"/>
              </a:ext>
            </a:extLst>
          </p:cNvPr>
          <p:cNvSpPr>
            <a:spLocks noGrp="1"/>
          </p:cNvSpPr>
          <p:nvPr>
            <p:ph type="body" idx="1"/>
          </p:nvPr>
        </p:nvSpPr>
        <p:spPr>
          <a:xfrm>
            <a:off x="4188822" y="1542305"/>
            <a:ext cx="3814356" cy="823912"/>
          </a:xfrm>
        </p:spPr>
        <p:txBody>
          <a:bodyPr anchor="ctr" anchorCtr="0">
            <a:noAutofit/>
          </a:bodyPr>
          <a:lstStyle/>
          <a:p>
            <a:pPr algn="ctr"/>
            <a:r>
              <a:rPr lang="en-US" sz="2800" b="0" dirty="0">
                <a:latin typeface="Arial Rounded MT Bold" panose="020F0704030504030204" pitchFamily="34" charset="0"/>
              </a:rPr>
              <a:t>Watch MCP in Action</a:t>
            </a:r>
          </a:p>
        </p:txBody>
      </p:sp>
      <p:sp>
        <p:nvSpPr>
          <p:cNvPr id="3" name="Text Placeholder 5">
            <a:extLst>
              <a:ext uri="{FF2B5EF4-FFF2-40B4-BE49-F238E27FC236}">
                <a16:creationId xmlns:a16="http://schemas.microsoft.com/office/drawing/2014/main" id="{E4BDFB52-828A-B51B-97B4-8D7A5BC5E745}"/>
              </a:ext>
            </a:extLst>
          </p:cNvPr>
          <p:cNvSpPr txBox="1">
            <a:spLocks/>
          </p:cNvSpPr>
          <p:nvPr/>
        </p:nvSpPr>
        <p:spPr>
          <a:xfrm>
            <a:off x="2373233" y="2629790"/>
            <a:ext cx="7445534" cy="823912"/>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2800" b="0" dirty="0">
                <a:latin typeface="Arial Rounded MT Bold" panose="020F0704030504030204" pitchFamily="34" charset="0"/>
              </a:rPr>
              <a:t>Niels says: "Do "stuff" for my conference"</a:t>
            </a:r>
          </a:p>
        </p:txBody>
      </p:sp>
      <p:sp>
        <p:nvSpPr>
          <p:cNvPr id="4" name="Text Placeholder 5">
            <a:extLst>
              <a:ext uri="{FF2B5EF4-FFF2-40B4-BE49-F238E27FC236}">
                <a16:creationId xmlns:a16="http://schemas.microsoft.com/office/drawing/2014/main" id="{E667FD50-91A0-15EB-7ECE-4023C0159E4E}"/>
              </a:ext>
            </a:extLst>
          </p:cNvPr>
          <p:cNvSpPr txBox="1">
            <a:spLocks/>
          </p:cNvSpPr>
          <p:nvPr/>
        </p:nvSpPr>
        <p:spPr>
          <a:xfrm>
            <a:off x="4549932" y="3568892"/>
            <a:ext cx="3092132" cy="823912"/>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800" b="0" dirty="0">
                <a:latin typeface="Arial Rounded MT Bold" panose="020F0704030504030204" pitchFamily="34" charset="0"/>
              </a:rPr>
              <a:t>THE BLACK BOX</a:t>
            </a:r>
          </a:p>
        </p:txBody>
      </p:sp>
      <p:sp>
        <p:nvSpPr>
          <p:cNvPr id="5" name="Text Placeholder 5">
            <a:extLst>
              <a:ext uri="{FF2B5EF4-FFF2-40B4-BE49-F238E27FC236}">
                <a16:creationId xmlns:a16="http://schemas.microsoft.com/office/drawing/2014/main" id="{DEE5ADA3-6DBC-34C1-081D-F7BDF8CF4640}"/>
              </a:ext>
            </a:extLst>
          </p:cNvPr>
          <p:cNvSpPr txBox="1">
            <a:spLocks/>
          </p:cNvSpPr>
          <p:nvPr/>
        </p:nvSpPr>
        <p:spPr>
          <a:xfrm>
            <a:off x="3559701" y="4561332"/>
            <a:ext cx="5072596" cy="823912"/>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2800" b="0" dirty="0">
                <a:latin typeface="Arial Rounded MT Bold" panose="020F0704030504030204" pitchFamily="34" charset="0"/>
              </a:rPr>
              <a:t>SQL Server: CRUD in the DB</a:t>
            </a:r>
          </a:p>
        </p:txBody>
      </p:sp>
      <p:sp>
        <p:nvSpPr>
          <p:cNvPr id="7" name="Text Placeholder 5">
            <a:extLst>
              <a:ext uri="{FF2B5EF4-FFF2-40B4-BE49-F238E27FC236}">
                <a16:creationId xmlns:a16="http://schemas.microsoft.com/office/drawing/2014/main" id="{34E7C445-1FE3-2B3F-EBAB-DC0823B2264A}"/>
              </a:ext>
            </a:extLst>
          </p:cNvPr>
          <p:cNvSpPr txBox="1">
            <a:spLocks/>
          </p:cNvSpPr>
          <p:nvPr/>
        </p:nvSpPr>
        <p:spPr>
          <a:xfrm>
            <a:off x="3421415" y="5658418"/>
            <a:ext cx="5349167" cy="823912"/>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2800" b="0" dirty="0">
                <a:latin typeface="Arial Rounded MT Bold" panose="020F0704030504030204" pitchFamily="34" charset="0"/>
              </a:rPr>
              <a:t>We're opening that black box</a:t>
            </a:r>
          </a:p>
        </p:txBody>
      </p:sp>
      <p:cxnSp>
        <p:nvCxnSpPr>
          <p:cNvPr id="9" name="Straight Arrow Connector 8">
            <a:extLst>
              <a:ext uri="{FF2B5EF4-FFF2-40B4-BE49-F238E27FC236}">
                <a16:creationId xmlns:a16="http://schemas.microsoft.com/office/drawing/2014/main" id="{AE81492C-8719-FDB0-7E4C-0AE2068968CF}"/>
              </a:ext>
            </a:extLst>
          </p:cNvPr>
          <p:cNvCxnSpPr/>
          <p:nvPr/>
        </p:nvCxnSpPr>
        <p:spPr>
          <a:xfrm>
            <a:off x="6095998" y="2207623"/>
            <a:ext cx="0" cy="561703"/>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4A910D5-DEB4-3701-1999-7CC143B53EF9}"/>
              </a:ext>
            </a:extLst>
          </p:cNvPr>
          <p:cNvCxnSpPr/>
          <p:nvPr/>
        </p:nvCxnSpPr>
        <p:spPr>
          <a:xfrm>
            <a:off x="6104705" y="3206334"/>
            <a:ext cx="0" cy="561703"/>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21632AD-14FA-F294-E1DA-D2B111C3B244}"/>
              </a:ext>
            </a:extLst>
          </p:cNvPr>
          <p:cNvCxnSpPr/>
          <p:nvPr/>
        </p:nvCxnSpPr>
        <p:spPr>
          <a:xfrm>
            <a:off x="6095998" y="4204343"/>
            <a:ext cx="0" cy="561703"/>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AF2FC4C-7ED6-F3B9-1C7C-813C87721EDA}"/>
              </a:ext>
            </a:extLst>
          </p:cNvPr>
          <p:cNvCxnSpPr/>
          <p:nvPr/>
        </p:nvCxnSpPr>
        <p:spPr>
          <a:xfrm>
            <a:off x="6104705" y="5202364"/>
            <a:ext cx="0" cy="561703"/>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4535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3" grpId="0"/>
      <p:bldP spid="4" grpId="0"/>
      <p:bldP spid="5"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8A0A1-B435-AFA1-B209-CD1FC4B95BB5}"/>
            </a:ext>
          </a:extLst>
        </p:cNvPr>
        <p:cNvGrpSpPr/>
        <p:nvPr/>
      </p:nvGrpSpPr>
      <p:grpSpPr>
        <a:xfrm>
          <a:off x="0" y="0"/>
          <a:ext cx="0" cy="0"/>
          <a:chOff x="0" y="0"/>
          <a:chExt cx="0" cy="0"/>
        </a:xfrm>
      </p:grpSpPr>
      <p:pic>
        <p:nvPicPr>
          <p:cNvPr id="13" name="Picture 12" descr="A white background with blue waves&#10;&#10;AI-generated content may be incorrect.">
            <a:extLst>
              <a:ext uri="{FF2B5EF4-FFF2-40B4-BE49-F238E27FC236}">
                <a16:creationId xmlns:a16="http://schemas.microsoft.com/office/drawing/2014/main" id="{8A60DB75-7D4D-CCA9-0F97-4E02706F3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2" name="Title 1">
            <a:extLst>
              <a:ext uri="{FF2B5EF4-FFF2-40B4-BE49-F238E27FC236}">
                <a16:creationId xmlns:a16="http://schemas.microsoft.com/office/drawing/2014/main" id="{743A19E7-756A-7C0E-133F-8E72CCBF2918}"/>
              </a:ext>
            </a:extLst>
          </p:cNvPr>
          <p:cNvSpPr>
            <a:spLocks noGrp="1"/>
          </p:cNvSpPr>
          <p:nvPr>
            <p:ph type="title"/>
          </p:nvPr>
        </p:nvSpPr>
        <p:spPr>
          <a:xfrm>
            <a:off x="839788" y="365125"/>
            <a:ext cx="10869282" cy="1325563"/>
          </a:xfrm>
        </p:spPr>
        <p:txBody>
          <a:bodyPr/>
          <a:lstStyle/>
          <a:p>
            <a:r>
              <a:rPr lang="en-US" dirty="0">
                <a:latin typeface="Arial Rounded MT Bold" panose="020F0704030504030204" pitchFamily="34" charset="0"/>
              </a:rPr>
              <a:t>What is MCP? (The 60-Second Version)</a:t>
            </a:r>
          </a:p>
        </p:txBody>
      </p:sp>
      <p:sp>
        <p:nvSpPr>
          <p:cNvPr id="3" name="Text 2">
            <a:extLst>
              <a:ext uri="{FF2B5EF4-FFF2-40B4-BE49-F238E27FC236}">
                <a16:creationId xmlns:a16="http://schemas.microsoft.com/office/drawing/2014/main" id="{98E040C7-2005-0C87-18CD-924FC04A29AE}"/>
              </a:ext>
            </a:extLst>
          </p:cNvPr>
          <p:cNvSpPr/>
          <p:nvPr/>
        </p:nvSpPr>
        <p:spPr>
          <a:xfrm>
            <a:off x="1852244" y="1920090"/>
            <a:ext cx="8290661" cy="409575"/>
          </a:xfrm>
          <a:prstGeom prst="rect">
            <a:avLst/>
          </a:prstGeom>
          <a:noFill/>
          <a:ln/>
        </p:spPr>
        <p:txBody>
          <a:bodyPr wrap="square" lIns="0" tIns="0" rIns="0" bIns="0" rtlCol="0" anchor="t"/>
          <a:lstStyle/>
          <a:p>
            <a:pPr marL="0" indent="0" algn="ctr">
              <a:spcAft>
                <a:spcPts val="2000"/>
              </a:spcAft>
              <a:buNone/>
            </a:pPr>
            <a:r>
              <a:rPr lang="en-US" sz="2800" b="1" dirty="0">
                <a:latin typeface="Arial Rounded MT Bold" pitchFamily="34" charset="0"/>
                <a:ea typeface="Arial Rounded MT Bold" pitchFamily="34" charset="-122"/>
                <a:cs typeface="Arial Rounded MT Bold" pitchFamily="34" charset="-120"/>
              </a:rPr>
              <a:t>Standard protocol for AI-to-tool communication</a:t>
            </a:r>
            <a:endParaRPr lang="en-US" sz="2800" dirty="0"/>
          </a:p>
        </p:txBody>
      </p:sp>
      <p:sp>
        <p:nvSpPr>
          <p:cNvPr id="4" name="Text 3">
            <a:extLst>
              <a:ext uri="{FF2B5EF4-FFF2-40B4-BE49-F238E27FC236}">
                <a16:creationId xmlns:a16="http://schemas.microsoft.com/office/drawing/2014/main" id="{009CA564-304C-2CD2-83DD-50B43C97098E}"/>
              </a:ext>
            </a:extLst>
          </p:cNvPr>
          <p:cNvSpPr/>
          <p:nvPr/>
        </p:nvSpPr>
        <p:spPr>
          <a:xfrm>
            <a:off x="1428576" y="2867797"/>
            <a:ext cx="9334848" cy="571559"/>
          </a:xfrm>
          <a:prstGeom prst="rect">
            <a:avLst/>
          </a:prstGeom>
          <a:noFill/>
          <a:ln/>
        </p:spPr>
        <p:txBody>
          <a:bodyPr wrap="square" lIns="0" tIns="0" rIns="0" bIns="0" rtlCol="0" anchor="t"/>
          <a:lstStyle/>
          <a:p>
            <a:pPr marL="0" indent="0" algn="ctr">
              <a:lnSpc>
                <a:spcPts val="2640"/>
              </a:lnSpc>
              <a:spcBef>
                <a:spcPts val="1200"/>
              </a:spcBef>
              <a:spcAft>
                <a:spcPts val="1200"/>
              </a:spcAft>
              <a:buNone/>
            </a:pPr>
            <a:r>
              <a:rPr lang="en-US" sz="2400" dirty="0">
                <a:solidFill>
                  <a:srgbClr val="000000"/>
                </a:solidFill>
                <a:latin typeface="Arial Rounded MT Bold" pitchFamily="34" charset="0"/>
                <a:ea typeface="Arial Rounded MT Bold" pitchFamily="34" charset="-122"/>
                <a:cs typeface="Arial Rounded MT Bold" pitchFamily="34" charset="-120"/>
              </a:rPr>
              <a:t>Your C# App ↔ MCP Protocol ↔ MCP Server ↔ SQL Database</a:t>
            </a:r>
            <a:endParaRPr lang="en-US" sz="2400" dirty="0"/>
          </a:p>
        </p:txBody>
      </p:sp>
      <p:sp>
        <p:nvSpPr>
          <p:cNvPr id="5" name="Text 6">
            <a:extLst>
              <a:ext uri="{FF2B5EF4-FFF2-40B4-BE49-F238E27FC236}">
                <a16:creationId xmlns:a16="http://schemas.microsoft.com/office/drawing/2014/main" id="{3EB7FC8B-7276-D1DC-4BC1-8A6EC6F6E5BE}"/>
              </a:ext>
            </a:extLst>
          </p:cNvPr>
          <p:cNvSpPr/>
          <p:nvPr/>
        </p:nvSpPr>
        <p:spPr>
          <a:xfrm>
            <a:off x="839788" y="3928107"/>
            <a:ext cx="10548648" cy="335161"/>
          </a:xfrm>
          <a:prstGeom prst="rect">
            <a:avLst/>
          </a:prstGeom>
          <a:noFill/>
          <a:ln/>
        </p:spPr>
        <p:txBody>
          <a:bodyPr wrap="square" lIns="0" tIns="0" rIns="0" bIns="0" rtlCol="0" anchor="t"/>
          <a:lstStyle/>
          <a:p>
            <a:pPr marL="0" indent="0" algn="ctr">
              <a:lnSpc>
                <a:spcPts val="2640"/>
              </a:lnSpc>
              <a:spcBef>
                <a:spcPts val="1200"/>
              </a:spcBef>
              <a:spcAft>
                <a:spcPts val="1200"/>
              </a:spcAft>
              <a:buNone/>
            </a:pPr>
            <a:r>
              <a:rPr lang="en-US" sz="2800" b="1" dirty="0">
                <a:solidFill>
                  <a:srgbClr val="000000"/>
                </a:solidFill>
                <a:latin typeface="Arial Rounded MT Bold" pitchFamily="34" charset="0"/>
                <a:ea typeface="Arial Rounded MT Bold" pitchFamily="34" charset="-122"/>
                <a:cs typeface="Arial Rounded MT Bold" pitchFamily="34" charset="-120"/>
              </a:rPr>
              <a:t>"Think REST API, but designed for AI agents"</a:t>
            </a:r>
            <a:endParaRPr lang="en-US" sz="2800" b="1" dirty="0"/>
          </a:p>
        </p:txBody>
      </p:sp>
    </p:spTree>
    <p:extLst>
      <p:ext uri="{BB962C8B-B14F-4D97-AF65-F5344CB8AC3E}">
        <p14:creationId xmlns:p14="http://schemas.microsoft.com/office/powerpoint/2010/main" val="46539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52886-C831-D8B3-900C-E557E172EFD3}"/>
            </a:ext>
          </a:extLst>
        </p:cNvPr>
        <p:cNvGrpSpPr/>
        <p:nvPr/>
      </p:nvGrpSpPr>
      <p:grpSpPr>
        <a:xfrm>
          <a:off x="0" y="0"/>
          <a:ext cx="0" cy="0"/>
          <a:chOff x="0" y="0"/>
          <a:chExt cx="0" cy="0"/>
        </a:xfrm>
      </p:grpSpPr>
      <p:pic>
        <p:nvPicPr>
          <p:cNvPr id="3" name="Picture 2" descr="A white background with blue waves&#10;&#10;AI-generated content may be incorrect.">
            <a:extLst>
              <a:ext uri="{FF2B5EF4-FFF2-40B4-BE49-F238E27FC236}">
                <a16:creationId xmlns:a16="http://schemas.microsoft.com/office/drawing/2014/main" id="{2D378439-BD6A-7509-3FAB-BA03529A52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2" name="Title 1">
            <a:extLst>
              <a:ext uri="{FF2B5EF4-FFF2-40B4-BE49-F238E27FC236}">
                <a16:creationId xmlns:a16="http://schemas.microsoft.com/office/drawing/2014/main" id="{195AE836-9AC2-48E7-A742-F2B5DC96B48E}"/>
              </a:ext>
            </a:extLst>
          </p:cNvPr>
          <p:cNvSpPr>
            <a:spLocks noGrp="1"/>
          </p:cNvSpPr>
          <p:nvPr>
            <p:ph type="title"/>
          </p:nvPr>
        </p:nvSpPr>
        <p:spPr>
          <a:xfrm>
            <a:off x="839788" y="365125"/>
            <a:ext cx="10869282" cy="1325563"/>
          </a:xfrm>
        </p:spPr>
        <p:txBody>
          <a:bodyPr/>
          <a:lstStyle/>
          <a:p>
            <a:r>
              <a:rPr lang="en-US" dirty="0">
                <a:latin typeface="Arial Rounded MT Bold" panose="020F0704030504030204" pitchFamily="34" charset="0"/>
              </a:rPr>
              <a:t>MCP Architecture Components</a:t>
            </a:r>
          </a:p>
        </p:txBody>
      </p:sp>
      <p:sp>
        <p:nvSpPr>
          <p:cNvPr id="18" name="Rectangle: Rounded Corners 17">
            <a:extLst>
              <a:ext uri="{FF2B5EF4-FFF2-40B4-BE49-F238E27FC236}">
                <a16:creationId xmlns:a16="http://schemas.microsoft.com/office/drawing/2014/main" id="{BD0DB91F-518E-F99D-6EB8-BA0CFBC9B793}"/>
              </a:ext>
            </a:extLst>
          </p:cNvPr>
          <p:cNvSpPr/>
          <p:nvPr/>
        </p:nvSpPr>
        <p:spPr>
          <a:xfrm>
            <a:off x="482930" y="2196618"/>
            <a:ext cx="5113658" cy="34503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4">
            <a:extLst>
              <a:ext uri="{FF2B5EF4-FFF2-40B4-BE49-F238E27FC236}">
                <a16:creationId xmlns:a16="http://schemas.microsoft.com/office/drawing/2014/main" id="{8D63A31B-48C0-A882-CD96-D8355808060A}"/>
              </a:ext>
            </a:extLst>
          </p:cNvPr>
          <p:cNvSpPr/>
          <p:nvPr/>
        </p:nvSpPr>
        <p:spPr>
          <a:xfrm>
            <a:off x="990600" y="2312537"/>
            <a:ext cx="3921013" cy="464292"/>
          </a:xfrm>
          <a:prstGeom prst="rect">
            <a:avLst/>
          </a:prstGeom>
          <a:noFill/>
          <a:ln/>
        </p:spPr>
        <p:txBody>
          <a:bodyPr wrap="square" lIns="0" tIns="0" rIns="0" bIns="0" rtlCol="0" anchor="t"/>
          <a:lstStyle/>
          <a:p>
            <a:pPr algn="ctr">
              <a:spcAft>
                <a:spcPts val="1000"/>
              </a:spcAft>
            </a:pPr>
            <a:r>
              <a:rPr lang="en-US" sz="2400" dirty="0">
                <a:solidFill>
                  <a:srgbClr val="000000"/>
                </a:solidFill>
                <a:latin typeface="Arial Rounded MT Bold" pitchFamily="34" charset="0"/>
                <a:ea typeface="Arial Rounded MT Bold" pitchFamily="34" charset="-122"/>
                <a:cs typeface="Arial Rounded MT Bold" pitchFamily="34" charset="-120"/>
              </a:rPr>
              <a:t>Your .NET app.</a:t>
            </a:r>
            <a:endParaRPr lang="en-US" sz="2400" dirty="0"/>
          </a:p>
          <a:p>
            <a:pPr marL="0" indent="0" algn="ctr">
              <a:spcAft>
                <a:spcPts val="1000"/>
              </a:spcAft>
              <a:buNone/>
            </a:pPr>
            <a:endParaRPr lang="en-US" sz="2400" dirty="0"/>
          </a:p>
        </p:txBody>
      </p:sp>
      <p:sp>
        <p:nvSpPr>
          <p:cNvPr id="27" name="Rectangle: Rounded Corners 26">
            <a:extLst>
              <a:ext uri="{FF2B5EF4-FFF2-40B4-BE49-F238E27FC236}">
                <a16:creationId xmlns:a16="http://schemas.microsoft.com/office/drawing/2014/main" id="{6EA1E217-E4B9-22E0-B81A-CCCA368778E2}"/>
              </a:ext>
            </a:extLst>
          </p:cNvPr>
          <p:cNvSpPr/>
          <p:nvPr/>
        </p:nvSpPr>
        <p:spPr>
          <a:xfrm>
            <a:off x="6192881" y="3203971"/>
            <a:ext cx="1915432" cy="84745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latin typeface="Arial Rounded MT Bold" panose="020F0704030504030204" pitchFamily="34" charset="0"/>
              </a:rPr>
              <a:t>MCP Server</a:t>
            </a:r>
          </a:p>
        </p:txBody>
      </p:sp>
      <p:sp>
        <p:nvSpPr>
          <p:cNvPr id="28" name="Rectangle: Rounded Corners 27">
            <a:extLst>
              <a:ext uri="{FF2B5EF4-FFF2-40B4-BE49-F238E27FC236}">
                <a16:creationId xmlns:a16="http://schemas.microsoft.com/office/drawing/2014/main" id="{E70F7C17-6BB7-60B3-99D4-7EB900DC3447}"/>
              </a:ext>
            </a:extLst>
          </p:cNvPr>
          <p:cNvSpPr/>
          <p:nvPr/>
        </p:nvSpPr>
        <p:spPr>
          <a:xfrm>
            <a:off x="6192881" y="4429231"/>
            <a:ext cx="1915432" cy="84745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latin typeface="Arial Rounded MT Bold" panose="020F0704030504030204" pitchFamily="34" charset="0"/>
              </a:rPr>
              <a:t>MCP Server</a:t>
            </a:r>
          </a:p>
        </p:txBody>
      </p:sp>
      <p:sp>
        <p:nvSpPr>
          <p:cNvPr id="29" name="Rectangle: Rounded Corners 28">
            <a:extLst>
              <a:ext uri="{FF2B5EF4-FFF2-40B4-BE49-F238E27FC236}">
                <a16:creationId xmlns:a16="http://schemas.microsoft.com/office/drawing/2014/main" id="{967E8E5C-2DAF-A955-A1E3-12D83A946F03}"/>
              </a:ext>
            </a:extLst>
          </p:cNvPr>
          <p:cNvSpPr/>
          <p:nvPr/>
        </p:nvSpPr>
        <p:spPr>
          <a:xfrm>
            <a:off x="9315450" y="3098503"/>
            <a:ext cx="1316736" cy="97554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latin typeface="Arial Rounded MT Bold" panose="020F0704030504030204" pitchFamily="34" charset="0"/>
              </a:rPr>
              <a:t>Data Source</a:t>
            </a:r>
          </a:p>
        </p:txBody>
      </p:sp>
      <p:sp>
        <p:nvSpPr>
          <p:cNvPr id="30" name="Rectangle: Rounded Corners 29">
            <a:extLst>
              <a:ext uri="{FF2B5EF4-FFF2-40B4-BE49-F238E27FC236}">
                <a16:creationId xmlns:a16="http://schemas.microsoft.com/office/drawing/2014/main" id="{2136E74F-A4D5-39CF-C90C-E5D9F2005789}"/>
              </a:ext>
            </a:extLst>
          </p:cNvPr>
          <p:cNvSpPr/>
          <p:nvPr/>
        </p:nvSpPr>
        <p:spPr>
          <a:xfrm>
            <a:off x="9315450" y="4393868"/>
            <a:ext cx="1316736" cy="97554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latin typeface="Arial Rounded MT Bold" panose="020F0704030504030204" pitchFamily="34" charset="0"/>
              </a:rPr>
              <a:t>Data Source</a:t>
            </a:r>
          </a:p>
        </p:txBody>
      </p:sp>
      <p:cxnSp>
        <p:nvCxnSpPr>
          <p:cNvPr id="35" name="Straight Arrow Connector 34">
            <a:extLst>
              <a:ext uri="{FF2B5EF4-FFF2-40B4-BE49-F238E27FC236}">
                <a16:creationId xmlns:a16="http://schemas.microsoft.com/office/drawing/2014/main" id="{2FBE76F3-7880-42B4-8F6A-3C01E43035B5}"/>
              </a:ext>
            </a:extLst>
          </p:cNvPr>
          <p:cNvCxnSpPr>
            <a:cxnSpLocks/>
            <a:stCxn id="27" idx="3"/>
          </p:cNvCxnSpPr>
          <p:nvPr/>
        </p:nvCxnSpPr>
        <p:spPr>
          <a:xfrm>
            <a:off x="8108313" y="3627699"/>
            <a:ext cx="1207137"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 name="Rectangle: Rounded Corners 26">
            <a:extLst>
              <a:ext uri="{FF2B5EF4-FFF2-40B4-BE49-F238E27FC236}">
                <a16:creationId xmlns:a16="http://schemas.microsoft.com/office/drawing/2014/main" id="{C445CAAB-96D5-C6EB-A5DA-1539A38DECBC}"/>
              </a:ext>
            </a:extLst>
          </p:cNvPr>
          <p:cNvSpPr/>
          <p:nvPr/>
        </p:nvSpPr>
        <p:spPr>
          <a:xfrm>
            <a:off x="676321" y="3570549"/>
            <a:ext cx="2279422" cy="138971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latin typeface="Arial Rounded MT Bold" panose="020F0704030504030204" pitchFamily="34" charset="0"/>
              </a:rPr>
              <a:t>AI Agent/LLM</a:t>
            </a:r>
          </a:p>
        </p:txBody>
      </p:sp>
      <p:sp>
        <p:nvSpPr>
          <p:cNvPr id="5" name="Rectangle: Rounded Corners 29">
            <a:extLst>
              <a:ext uri="{FF2B5EF4-FFF2-40B4-BE49-F238E27FC236}">
                <a16:creationId xmlns:a16="http://schemas.microsoft.com/office/drawing/2014/main" id="{6A28DE74-509C-4F31-99AB-13A704EAA7FD}"/>
              </a:ext>
            </a:extLst>
          </p:cNvPr>
          <p:cNvSpPr/>
          <p:nvPr/>
        </p:nvSpPr>
        <p:spPr>
          <a:xfrm>
            <a:off x="3913459" y="3139927"/>
            <a:ext cx="1316736" cy="97554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latin typeface="Arial Rounded MT Bold" panose="020F0704030504030204" pitchFamily="34" charset="0"/>
              </a:rPr>
              <a:t>MCP Client</a:t>
            </a:r>
          </a:p>
        </p:txBody>
      </p:sp>
      <p:sp>
        <p:nvSpPr>
          <p:cNvPr id="6" name="Rectangle: Rounded Corners 29">
            <a:extLst>
              <a:ext uri="{FF2B5EF4-FFF2-40B4-BE49-F238E27FC236}">
                <a16:creationId xmlns:a16="http://schemas.microsoft.com/office/drawing/2014/main" id="{7C90D06C-9644-F9F3-FEBC-C79F8C6386A3}"/>
              </a:ext>
            </a:extLst>
          </p:cNvPr>
          <p:cNvSpPr/>
          <p:nvPr/>
        </p:nvSpPr>
        <p:spPr>
          <a:xfrm>
            <a:off x="3913459" y="4365187"/>
            <a:ext cx="1316736" cy="97554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latin typeface="Arial Rounded MT Bold" panose="020F0704030504030204" pitchFamily="34" charset="0"/>
              </a:rPr>
              <a:t>MCP Client</a:t>
            </a:r>
          </a:p>
        </p:txBody>
      </p:sp>
      <p:cxnSp>
        <p:nvCxnSpPr>
          <p:cNvPr id="8" name="Elbow Connector 7">
            <a:extLst>
              <a:ext uri="{FF2B5EF4-FFF2-40B4-BE49-F238E27FC236}">
                <a16:creationId xmlns:a16="http://schemas.microsoft.com/office/drawing/2014/main" id="{8763B82F-FA5A-9888-A869-C39FAEE63C38}"/>
              </a:ext>
            </a:extLst>
          </p:cNvPr>
          <p:cNvCxnSpPr>
            <a:stCxn id="4" idx="3"/>
            <a:endCxn id="5" idx="1"/>
          </p:cNvCxnSpPr>
          <p:nvPr/>
        </p:nvCxnSpPr>
        <p:spPr>
          <a:xfrm flipV="1">
            <a:off x="2955743" y="3627699"/>
            <a:ext cx="957716" cy="637707"/>
          </a:xfrm>
          <a:prstGeom prst="bentConnector3">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5E13DB2A-0611-3E09-1B7A-C81297BB618D}"/>
              </a:ext>
            </a:extLst>
          </p:cNvPr>
          <p:cNvCxnSpPr>
            <a:stCxn id="4" idx="3"/>
            <a:endCxn id="6" idx="1"/>
          </p:cNvCxnSpPr>
          <p:nvPr/>
        </p:nvCxnSpPr>
        <p:spPr>
          <a:xfrm>
            <a:off x="2955743" y="4265406"/>
            <a:ext cx="957716" cy="587553"/>
          </a:xfrm>
          <a:prstGeom prst="bentConnector3">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9E56E6B6-A5C2-0954-C66B-62F3BF01698E}"/>
              </a:ext>
            </a:extLst>
          </p:cNvPr>
          <p:cNvCxnSpPr>
            <a:stCxn id="5" idx="3"/>
            <a:endCxn id="27" idx="1"/>
          </p:cNvCxnSpPr>
          <p:nvPr/>
        </p:nvCxnSpPr>
        <p:spPr>
          <a:xfrm>
            <a:off x="5230195" y="3627699"/>
            <a:ext cx="962686"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4BD52C5-4043-6C7B-997A-6E1E54C48912}"/>
              </a:ext>
            </a:extLst>
          </p:cNvPr>
          <p:cNvCxnSpPr/>
          <p:nvPr/>
        </p:nvCxnSpPr>
        <p:spPr>
          <a:xfrm>
            <a:off x="5230195" y="4921702"/>
            <a:ext cx="962686"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5D9D06B6-11D0-1B30-8EA1-A60445E9325B}"/>
              </a:ext>
            </a:extLst>
          </p:cNvPr>
          <p:cNvCxnSpPr>
            <a:cxnSpLocks/>
          </p:cNvCxnSpPr>
          <p:nvPr/>
        </p:nvCxnSpPr>
        <p:spPr>
          <a:xfrm>
            <a:off x="8108312" y="4856627"/>
            <a:ext cx="1207137"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3" name="Text 4">
            <a:extLst>
              <a:ext uri="{FF2B5EF4-FFF2-40B4-BE49-F238E27FC236}">
                <a16:creationId xmlns:a16="http://schemas.microsoft.com/office/drawing/2014/main" id="{C62BC9D9-046E-78E6-120C-C6A8FFF2B169}"/>
              </a:ext>
            </a:extLst>
          </p:cNvPr>
          <p:cNvSpPr/>
          <p:nvPr/>
        </p:nvSpPr>
        <p:spPr>
          <a:xfrm>
            <a:off x="1079252" y="2750850"/>
            <a:ext cx="3921013" cy="464292"/>
          </a:xfrm>
          <a:prstGeom prst="rect">
            <a:avLst/>
          </a:prstGeom>
          <a:noFill/>
          <a:ln/>
        </p:spPr>
        <p:txBody>
          <a:bodyPr wrap="square" lIns="0" tIns="0" rIns="0" bIns="0" rtlCol="0" anchor="t"/>
          <a:lstStyle/>
          <a:p>
            <a:pPr algn="ctr">
              <a:spcAft>
                <a:spcPts val="1000"/>
              </a:spcAft>
            </a:pPr>
            <a:r>
              <a:rPr lang="en-US" sz="2400" dirty="0">
                <a:solidFill>
                  <a:srgbClr val="000000"/>
                </a:solidFill>
                <a:latin typeface="Arial Rounded MT Bold" pitchFamily="34" charset="0"/>
                <a:ea typeface="Arial Rounded MT Bold" pitchFamily="34" charset="-122"/>
                <a:cs typeface="Arial Rounded MT Bold" pitchFamily="34" charset="-120"/>
              </a:rPr>
              <a:t>MCP Host</a:t>
            </a:r>
            <a:endParaRPr lang="en-US" sz="2400" dirty="0"/>
          </a:p>
          <a:p>
            <a:pPr marL="0" indent="0" algn="ctr">
              <a:spcAft>
                <a:spcPts val="1000"/>
              </a:spcAft>
              <a:buNone/>
            </a:pPr>
            <a:endParaRPr lang="en-US" sz="2400" dirty="0"/>
          </a:p>
        </p:txBody>
      </p:sp>
    </p:spTree>
    <p:extLst>
      <p:ext uri="{BB962C8B-B14F-4D97-AF65-F5344CB8AC3E}">
        <p14:creationId xmlns:p14="http://schemas.microsoft.com/office/powerpoint/2010/main" val="465671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95547-3BBF-5B15-8BB8-D67B7CDA7CA8}"/>
            </a:ext>
          </a:extLst>
        </p:cNvPr>
        <p:cNvGrpSpPr/>
        <p:nvPr/>
      </p:nvGrpSpPr>
      <p:grpSpPr>
        <a:xfrm>
          <a:off x="0" y="0"/>
          <a:ext cx="0" cy="0"/>
          <a:chOff x="0" y="0"/>
          <a:chExt cx="0" cy="0"/>
        </a:xfrm>
      </p:grpSpPr>
      <p:pic>
        <p:nvPicPr>
          <p:cNvPr id="8" name="Picture 7" descr="A white background with blue waves&#10;&#10;AI-generated content may be incorrect.">
            <a:extLst>
              <a:ext uri="{FF2B5EF4-FFF2-40B4-BE49-F238E27FC236}">
                <a16:creationId xmlns:a16="http://schemas.microsoft.com/office/drawing/2014/main" id="{524B3845-D817-BBA5-70C3-AE072C416E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2" name="Title 1">
            <a:extLst>
              <a:ext uri="{FF2B5EF4-FFF2-40B4-BE49-F238E27FC236}">
                <a16:creationId xmlns:a16="http://schemas.microsoft.com/office/drawing/2014/main" id="{8A20AAF8-CCFF-3109-3C19-47166D30559F}"/>
              </a:ext>
            </a:extLst>
          </p:cNvPr>
          <p:cNvSpPr>
            <a:spLocks noGrp="1"/>
          </p:cNvSpPr>
          <p:nvPr>
            <p:ph type="title"/>
          </p:nvPr>
        </p:nvSpPr>
        <p:spPr/>
        <p:txBody>
          <a:bodyPr/>
          <a:lstStyle/>
          <a:p>
            <a:r>
              <a:rPr lang="en-US" dirty="0">
                <a:latin typeface="Arial Rounded MT Bold" panose="020F0704030504030204" pitchFamily="34" charset="0"/>
              </a:rPr>
              <a:t>Why MCP Matters for Enterprise Apps</a:t>
            </a:r>
          </a:p>
        </p:txBody>
      </p:sp>
      <p:sp>
        <p:nvSpPr>
          <p:cNvPr id="7" name="Content Placeholder 6">
            <a:extLst>
              <a:ext uri="{FF2B5EF4-FFF2-40B4-BE49-F238E27FC236}">
                <a16:creationId xmlns:a16="http://schemas.microsoft.com/office/drawing/2014/main" id="{BFC21551-8FAA-233C-0913-C73F209D0C3F}"/>
              </a:ext>
            </a:extLst>
          </p:cNvPr>
          <p:cNvSpPr>
            <a:spLocks noGrp="1"/>
          </p:cNvSpPr>
          <p:nvPr>
            <p:ph sz="half" idx="2"/>
          </p:nvPr>
        </p:nvSpPr>
        <p:spPr>
          <a:xfrm>
            <a:off x="839788" y="1816306"/>
            <a:ext cx="10762404" cy="3684588"/>
          </a:xfrm>
        </p:spPr>
        <p:txBody>
          <a:bodyPr/>
          <a:lstStyle/>
          <a:p>
            <a:r>
              <a:rPr lang="en-US" dirty="0"/>
              <a:t>✅ </a:t>
            </a:r>
            <a:r>
              <a:rPr lang="en-US" dirty="0">
                <a:latin typeface="Arial Rounded MT Bold" panose="020F0704030504030204" pitchFamily="34" charset="0"/>
              </a:rPr>
              <a:t>Standardized AI-to-tool integration</a:t>
            </a:r>
          </a:p>
          <a:p>
            <a:r>
              <a:rPr lang="en-US" dirty="0"/>
              <a:t>✅ </a:t>
            </a:r>
            <a:r>
              <a:rPr lang="en-US" dirty="0">
                <a:latin typeface="Arial Rounded MT Bold" panose="020F0704030504030204" pitchFamily="34" charset="0"/>
              </a:rPr>
              <a:t>Security and permission boundaries</a:t>
            </a:r>
          </a:p>
          <a:p>
            <a:r>
              <a:rPr lang="en-US" dirty="0"/>
              <a:t>✅ </a:t>
            </a:r>
            <a:r>
              <a:rPr lang="en-US" dirty="0">
                <a:latin typeface="Arial Rounded MT Bold" panose="020F0704030504030204" pitchFamily="34" charset="0"/>
              </a:rPr>
              <a:t>Context management built-in</a:t>
            </a:r>
          </a:p>
          <a:p>
            <a:r>
              <a:rPr lang="en-US" dirty="0"/>
              <a:t>✅ </a:t>
            </a:r>
            <a:r>
              <a:rPr lang="en-US" dirty="0">
                <a:latin typeface="Arial Rounded MT Bold" panose="020F0704030504030204" pitchFamily="34" charset="0"/>
              </a:rPr>
              <a:t>Tool discovery and invocation</a:t>
            </a:r>
          </a:p>
          <a:p>
            <a:r>
              <a:rPr lang="en-US" dirty="0"/>
              <a:t>✅ </a:t>
            </a:r>
            <a:r>
              <a:rPr lang="en-US" dirty="0">
                <a:latin typeface="Arial Rounded MT Bold" panose="020F0704030504030204" pitchFamily="34" charset="0"/>
              </a:rPr>
              <a:t>Reusable servers across apps</a:t>
            </a:r>
          </a:p>
          <a:p>
            <a:endParaRPr lang="en-US" dirty="0">
              <a:latin typeface="Arial Rounded MT Bold" panose="020F0704030504030204" pitchFamily="34" charset="0"/>
            </a:endParaRPr>
          </a:p>
        </p:txBody>
      </p:sp>
    </p:spTree>
    <p:extLst>
      <p:ext uri="{BB962C8B-B14F-4D97-AF65-F5344CB8AC3E}">
        <p14:creationId xmlns:p14="http://schemas.microsoft.com/office/powerpoint/2010/main" val="2839801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6DCFA-95DA-2C27-943F-D2051EF7FA06}"/>
            </a:ext>
          </a:extLst>
        </p:cNvPr>
        <p:cNvGrpSpPr/>
        <p:nvPr/>
      </p:nvGrpSpPr>
      <p:grpSpPr>
        <a:xfrm>
          <a:off x="0" y="0"/>
          <a:ext cx="0" cy="0"/>
          <a:chOff x="0" y="0"/>
          <a:chExt cx="0" cy="0"/>
        </a:xfrm>
      </p:grpSpPr>
      <p:pic>
        <p:nvPicPr>
          <p:cNvPr id="5" name="Picture 4" descr="A white background with blue waves&#10;&#10;AI-generated content may be incorrect.">
            <a:extLst>
              <a:ext uri="{FF2B5EF4-FFF2-40B4-BE49-F238E27FC236}">
                <a16:creationId xmlns:a16="http://schemas.microsoft.com/office/drawing/2014/main" id="{8BC4390C-0843-A325-1D15-D80E7481A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2" name="Title 1">
            <a:extLst>
              <a:ext uri="{FF2B5EF4-FFF2-40B4-BE49-F238E27FC236}">
                <a16:creationId xmlns:a16="http://schemas.microsoft.com/office/drawing/2014/main" id="{AA962FA7-9597-C5F1-7AC4-29096238F49D}"/>
              </a:ext>
            </a:extLst>
          </p:cNvPr>
          <p:cNvSpPr>
            <a:spLocks noGrp="1"/>
          </p:cNvSpPr>
          <p:nvPr>
            <p:ph type="title"/>
          </p:nvPr>
        </p:nvSpPr>
        <p:spPr/>
        <p:txBody>
          <a:bodyPr/>
          <a:lstStyle/>
          <a:p>
            <a:r>
              <a:rPr lang="en-US" dirty="0">
                <a:latin typeface="Arial Rounded MT Bold" panose="020F0704030504030204" pitchFamily="34" charset="0"/>
              </a:rPr>
              <a:t>The MSSQL MCP Server</a:t>
            </a:r>
          </a:p>
        </p:txBody>
      </p:sp>
      <p:sp>
        <p:nvSpPr>
          <p:cNvPr id="6" name="Text Placeholder 5">
            <a:extLst>
              <a:ext uri="{FF2B5EF4-FFF2-40B4-BE49-F238E27FC236}">
                <a16:creationId xmlns:a16="http://schemas.microsoft.com/office/drawing/2014/main" id="{FE134E6C-EE25-5348-6D15-BCC92A1800C6}"/>
              </a:ext>
            </a:extLst>
          </p:cNvPr>
          <p:cNvSpPr>
            <a:spLocks noGrp="1"/>
          </p:cNvSpPr>
          <p:nvPr>
            <p:ph type="body" idx="1"/>
          </p:nvPr>
        </p:nvSpPr>
        <p:spPr/>
        <p:txBody>
          <a:bodyPr anchor="ctr" anchorCtr="0">
            <a:normAutofit/>
          </a:bodyPr>
          <a:lstStyle/>
          <a:p>
            <a:r>
              <a:rPr lang="en-US" sz="2800" dirty="0">
                <a:latin typeface="Arial Rounded MT Bold" panose="020F0704030504030204" pitchFamily="34" charset="0"/>
              </a:rPr>
              <a:t>What it provides:</a:t>
            </a:r>
          </a:p>
        </p:txBody>
      </p:sp>
      <p:sp>
        <p:nvSpPr>
          <p:cNvPr id="7" name="Content Placeholder 6">
            <a:extLst>
              <a:ext uri="{FF2B5EF4-FFF2-40B4-BE49-F238E27FC236}">
                <a16:creationId xmlns:a16="http://schemas.microsoft.com/office/drawing/2014/main" id="{D76E6151-9CDE-A6AD-7213-E14A2B18D582}"/>
              </a:ext>
            </a:extLst>
          </p:cNvPr>
          <p:cNvSpPr>
            <a:spLocks noGrp="1"/>
          </p:cNvSpPr>
          <p:nvPr>
            <p:ph sz="half" idx="2"/>
          </p:nvPr>
        </p:nvSpPr>
        <p:spPr>
          <a:xfrm>
            <a:off x="839788" y="2505075"/>
            <a:ext cx="10762404" cy="3684588"/>
          </a:xfrm>
        </p:spPr>
        <p:txBody>
          <a:bodyPr/>
          <a:lstStyle/>
          <a:p>
            <a:pPr algn="l">
              <a:lnSpc>
                <a:spcPct val="100000"/>
              </a:lnSpc>
              <a:spcBef>
                <a:spcPts val="1200"/>
              </a:spcBef>
              <a:spcAft>
                <a:spcPts val="1200"/>
              </a:spcAft>
              <a:buFont typeface="Arial" panose="020B0604020202020204" pitchFamily="34" charset="0"/>
              <a:buChar char="•"/>
            </a:pPr>
            <a:r>
              <a:rPr lang="en-US" sz="2800" b="0" i="0" dirty="0">
                <a:solidFill>
                  <a:srgbClr val="000000"/>
                </a:solidFill>
                <a:effectLst/>
                <a:latin typeface="Arial Rounded MT Bold" panose="020F0704030504030204" pitchFamily="34" charset="0"/>
              </a:rPr>
              <a:t>Database schema inspection</a:t>
            </a:r>
          </a:p>
          <a:p>
            <a:pPr algn="l">
              <a:spcBef>
                <a:spcPts val="1200"/>
              </a:spcBef>
              <a:spcAft>
                <a:spcPts val="1200"/>
              </a:spcAft>
              <a:buFont typeface="Arial" panose="020B0604020202020204" pitchFamily="34" charset="0"/>
              <a:buChar char="•"/>
            </a:pPr>
            <a:r>
              <a:rPr lang="en-US" sz="2800" b="0" i="0" dirty="0">
                <a:solidFill>
                  <a:srgbClr val="000000"/>
                </a:solidFill>
                <a:effectLst/>
                <a:latin typeface="Arial Rounded MT Bold" panose="020F0704030504030204" pitchFamily="34" charset="0"/>
              </a:rPr>
              <a:t>CRUD operations</a:t>
            </a:r>
          </a:p>
          <a:p>
            <a:pPr algn="l">
              <a:spcBef>
                <a:spcPts val="1200"/>
              </a:spcBef>
              <a:spcAft>
                <a:spcPts val="1200"/>
              </a:spcAft>
              <a:buFont typeface="Arial" panose="020B0604020202020204" pitchFamily="34" charset="0"/>
              <a:buChar char="•"/>
            </a:pPr>
            <a:r>
              <a:rPr lang="en-US" sz="2800" b="0" i="0" dirty="0">
                <a:solidFill>
                  <a:srgbClr val="000000"/>
                </a:solidFill>
                <a:effectLst/>
                <a:latin typeface="Arial Rounded MT Bold" panose="020F0704030504030204" pitchFamily="34" charset="0"/>
              </a:rPr>
              <a:t>Query execution</a:t>
            </a:r>
          </a:p>
          <a:p>
            <a:pPr algn="l">
              <a:spcBef>
                <a:spcPts val="1200"/>
              </a:spcBef>
              <a:spcAft>
                <a:spcPts val="1200"/>
              </a:spcAft>
              <a:buFont typeface="Arial" panose="020B0604020202020204" pitchFamily="34" charset="0"/>
              <a:buChar char="•"/>
            </a:pPr>
            <a:r>
              <a:rPr lang="en-US" sz="2800" b="0" i="0" dirty="0">
                <a:solidFill>
                  <a:srgbClr val="000000"/>
                </a:solidFill>
                <a:effectLst/>
                <a:latin typeface="Arial Rounded MT Bold" panose="020F0704030504030204" pitchFamily="34" charset="0"/>
              </a:rPr>
              <a:t>Table creation and management</a:t>
            </a:r>
          </a:p>
        </p:txBody>
      </p:sp>
    </p:spTree>
    <p:extLst>
      <p:ext uri="{BB962C8B-B14F-4D97-AF65-F5344CB8AC3E}">
        <p14:creationId xmlns:p14="http://schemas.microsoft.com/office/powerpoint/2010/main" val="156162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8E8A5-BD65-7336-7770-6E8D27EE2117}"/>
            </a:ext>
          </a:extLst>
        </p:cNvPr>
        <p:cNvGrpSpPr/>
        <p:nvPr/>
      </p:nvGrpSpPr>
      <p:grpSpPr>
        <a:xfrm>
          <a:off x="0" y="0"/>
          <a:ext cx="0" cy="0"/>
          <a:chOff x="0" y="0"/>
          <a:chExt cx="0" cy="0"/>
        </a:xfrm>
      </p:grpSpPr>
      <p:pic>
        <p:nvPicPr>
          <p:cNvPr id="13" name="Picture 12" descr="A white background with blue waves&#10;&#10;AI-generated content may be incorrect.">
            <a:extLst>
              <a:ext uri="{FF2B5EF4-FFF2-40B4-BE49-F238E27FC236}">
                <a16:creationId xmlns:a16="http://schemas.microsoft.com/office/drawing/2014/main" id="{42BE72AD-CAB0-8545-8CEB-E663801DA2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2" name="Title 1">
            <a:extLst>
              <a:ext uri="{FF2B5EF4-FFF2-40B4-BE49-F238E27FC236}">
                <a16:creationId xmlns:a16="http://schemas.microsoft.com/office/drawing/2014/main" id="{D535998D-4277-DE5E-EABF-6DE51048015D}"/>
              </a:ext>
            </a:extLst>
          </p:cNvPr>
          <p:cNvSpPr>
            <a:spLocks noGrp="1"/>
          </p:cNvSpPr>
          <p:nvPr>
            <p:ph type="title"/>
          </p:nvPr>
        </p:nvSpPr>
        <p:spPr>
          <a:xfrm>
            <a:off x="839788" y="365125"/>
            <a:ext cx="10869282" cy="1325563"/>
          </a:xfrm>
        </p:spPr>
        <p:txBody>
          <a:bodyPr/>
          <a:lstStyle/>
          <a:p>
            <a:r>
              <a:rPr lang="en-US" dirty="0">
                <a:latin typeface="Arial Rounded MT Bold" panose="020F0704030504030204" pitchFamily="34" charset="0"/>
              </a:rPr>
              <a:t>Our Architecture Today</a:t>
            </a:r>
          </a:p>
        </p:txBody>
      </p:sp>
      <p:sp>
        <p:nvSpPr>
          <p:cNvPr id="5" name="Rectangle: Rounded Corners 4">
            <a:extLst>
              <a:ext uri="{FF2B5EF4-FFF2-40B4-BE49-F238E27FC236}">
                <a16:creationId xmlns:a16="http://schemas.microsoft.com/office/drawing/2014/main" id="{AC9B4D44-2D85-B13A-CE4D-5E7B47B70B46}"/>
              </a:ext>
            </a:extLst>
          </p:cNvPr>
          <p:cNvSpPr/>
          <p:nvPr/>
        </p:nvSpPr>
        <p:spPr>
          <a:xfrm>
            <a:off x="3906981" y="1702564"/>
            <a:ext cx="3716977" cy="132556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Rounded MT Bold" panose="020F0704030504030204" pitchFamily="34" charset="0"/>
              </a:rPr>
              <a:t>ASP.NET Core Web App</a:t>
            </a:r>
          </a:p>
          <a:p>
            <a:r>
              <a:rPr lang="en-US" dirty="0">
                <a:solidFill>
                  <a:schemeClr val="tx1"/>
                </a:solidFill>
                <a:latin typeface="Arial Rounded MT Bold" panose="020F0704030504030204" pitchFamily="34" charset="0"/>
              </a:rPr>
              <a:t>  |-- </a:t>
            </a:r>
            <a:r>
              <a:rPr lang="en-US" sz="1600" dirty="0">
                <a:solidFill>
                  <a:schemeClr val="tx1"/>
                </a:solidFill>
                <a:latin typeface="Arial Rounded MT Bold" panose="020F0704030504030204" pitchFamily="34" charset="0"/>
              </a:rPr>
              <a:t>UI (Chat)</a:t>
            </a:r>
          </a:p>
          <a:p>
            <a:r>
              <a:rPr lang="en-US" dirty="0">
                <a:solidFill>
                  <a:schemeClr val="tx1"/>
                </a:solidFill>
                <a:latin typeface="Arial Rounded MT Bold" panose="020F0704030504030204" pitchFamily="34" charset="0"/>
              </a:rPr>
              <a:t>  |-- </a:t>
            </a:r>
            <a:r>
              <a:rPr lang="en-US" sz="1600" dirty="0">
                <a:solidFill>
                  <a:schemeClr val="tx1"/>
                </a:solidFill>
                <a:latin typeface="Arial Rounded MT Bold" panose="020F0704030504030204" pitchFamily="34" charset="0"/>
              </a:rPr>
              <a:t>C# Backend</a:t>
            </a:r>
          </a:p>
          <a:p>
            <a:r>
              <a:rPr lang="en-US" dirty="0">
                <a:solidFill>
                  <a:schemeClr val="tx1"/>
                </a:solidFill>
                <a:latin typeface="Arial Rounded MT Bold" panose="020F0704030504030204" pitchFamily="34" charset="0"/>
              </a:rPr>
              <a:t>  |-- </a:t>
            </a:r>
            <a:r>
              <a:rPr lang="en-US" sz="1600" dirty="0">
                <a:solidFill>
                  <a:schemeClr val="tx1"/>
                </a:solidFill>
                <a:latin typeface="Arial Rounded MT Bold" panose="020F0704030504030204" pitchFamily="34" charset="0"/>
              </a:rPr>
              <a:t>Azure AI Integration</a:t>
            </a:r>
          </a:p>
        </p:txBody>
      </p:sp>
      <p:sp>
        <p:nvSpPr>
          <p:cNvPr id="7" name="Rectangle: Rounded Corners 6">
            <a:extLst>
              <a:ext uri="{FF2B5EF4-FFF2-40B4-BE49-F238E27FC236}">
                <a16:creationId xmlns:a16="http://schemas.microsoft.com/office/drawing/2014/main" id="{C29DC265-E4B4-7C3A-8554-A09D8035BA56}"/>
              </a:ext>
            </a:extLst>
          </p:cNvPr>
          <p:cNvSpPr/>
          <p:nvPr/>
        </p:nvSpPr>
        <p:spPr>
          <a:xfrm>
            <a:off x="3906980" y="3746745"/>
            <a:ext cx="3716977" cy="7658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Rounded MT Bold" panose="020F0704030504030204" pitchFamily="34" charset="0"/>
              </a:rPr>
              <a:t>MSSQL MCP Server (Node.js)</a:t>
            </a:r>
          </a:p>
        </p:txBody>
      </p:sp>
      <p:sp>
        <p:nvSpPr>
          <p:cNvPr id="8" name="Rectangle: Rounded Corners 7">
            <a:extLst>
              <a:ext uri="{FF2B5EF4-FFF2-40B4-BE49-F238E27FC236}">
                <a16:creationId xmlns:a16="http://schemas.microsoft.com/office/drawing/2014/main" id="{4621B28D-C0E6-9999-8137-CE577A140E5E}"/>
              </a:ext>
            </a:extLst>
          </p:cNvPr>
          <p:cNvSpPr/>
          <p:nvPr/>
        </p:nvSpPr>
        <p:spPr>
          <a:xfrm>
            <a:off x="3906980" y="5258162"/>
            <a:ext cx="3716977" cy="87113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Rounded MT Bold" panose="020F0704030504030204" pitchFamily="34" charset="0"/>
              </a:rPr>
              <a:t>SQL Server Database</a:t>
            </a:r>
          </a:p>
          <a:p>
            <a:pPr algn="ctr"/>
            <a:r>
              <a:rPr lang="en-US" dirty="0">
                <a:solidFill>
                  <a:schemeClr val="tx1"/>
                </a:solidFill>
                <a:latin typeface="Arial Rounded MT Bold" panose="020F0704030504030204" pitchFamily="34" charset="0"/>
              </a:rPr>
              <a:t>(Event Management Schema</a:t>
            </a:r>
          </a:p>
        </p:txBody>
      </p:sp>
      <p:cxnSp>
        <p:nvCxnSpPr>
          <p:cNvPr id="10" name="Straight Arrow Connector 9">
            <a:extLst>
              <a:ext uri="{FF2B5EF4-FFF2-40B4-BE49-F238E27FC236}">
                <a16:creationId xmlns:a16="http://schemas.microsoft.com/office/drawing/2014/main" id="{99FC591E-6F09-C5CA-59AD-530D032DD6A8}"/>
              </a:ext>
            </a:extLst>
          </p:cNvPr>
          <p:cNvCxnSpPr>
            <a:stCxn id="5" idx="2"/>
            <a:endCxn id="7" idx="0"/>
          </p:cNvCxnSpPr>
          <p:nvPr/>
        </p:nvCxnSpPr>
        <p:spPr>
          <a:xfrm flipH="1">
            <a:off x="5765469" y="3028128"/>
            <a:ext cx="1" cy="718617"/>
          </a:xfrm>
          <a:prstGeom prst="straightConnector1">
            <a:avLst/>
          </a:prstGeom>
          <a:ln w="381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B15B4B5-0784-70AC-E43D-3C46EF6FDBB1}"/>
              </a:ext>
            </a:extLst>
          </p:cNvPr>
          <p:cNvCxnSpPr/>
          <p:nvPr/>
        </p:nvCxnSpPr>
        <p:spPr>
          <a:xfrm flipH="1">
            <a:off x="5765467" y="4512624"/>
            <a:ext cx="1" cy="718617"/>
          </a:xfrm>
          <a:prstGeom prst="straightConnector1">
            <a:avLst/>
          </a:prstGeom>
          <a:ln w="381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8144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white background with blue waves&#10;&#10;AI-generated content may be incorrect.">
            <a:extLst>
              <a:ext uri="{FF2B5EF4-FFF2-40B4-BE49-F238E27FC236}">
                <a16:creationId xmlns:a16="http://schemas.microsoft.com/office/drawing/2014/main" id="{95C15A5C-51F5-1D24-B63C-CF7C3ECD1D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7" name="Title 6">
            <a:extLst>
              <a:ext uri="{FF2B5EF4-FFF2-40B4-BE49-F238E27FC236}">
                <a16:creationId xmlns:a16="http://schemas.microsoft.com/office/drawing/2014/main" id="{9B3C7BF3-1368-7A69-7C0A-26B3B82B956B}"/>
              </a:ext>
            </a:extLst>
          </p:cNvPr>
          <p:cNvSpPr>
            <a:spLocks noGrp="1"/>
          </p:cNvSpPr>
          <p:nvPr>
            <p:ph type="title"/>
          </p:nvPr>
        </p:nvSpPr>
        <p:spPr/>
        <p:txBody>
          <a:bodyPr/>
          <a:lstStyle/>
          <a:p>
            <a:r>
              <a:rPr lang="en-US" dirty="0">
                <a:latin typeface="Arial Rounded MT Bold" panose="020F0704030504030204" pitchFamily="34" charset="0"/>
              </a:rPr>
              <a:t>Demo Roadmap: Our Coding Path</a:t>
            </a:r>
          </a:p>
        </p:txBody>
      </p:sp>
      <p:sp>
        <p:nvSpPr>
          <p:cNvPr id="8" name="Content Placeholder 7">
            <a:extLst>
              <a:ext uri="{FF2B5EF4-FFF2-40B4-BE49-F238E27FC236}">
                <a16:creationId xmlns:a16="http://schemas.microsoft.com/office/drawing/2014/main" id="{3A9E5E13-5CC3-B50A-A29F-C1991B343B11}"/>
              </a:ext>
            </a:extLst>
          </p:cNvPr>
          <p:cNvSpPr>
            <a:spLocks noGrp="1"/>
          </p:cNvSpPr>
          <p:nvPr>
            <p:ph idx="1"/>
          </p:nvPr>
        </p:nvSpPr>
        <p:spPr/>
        <p:txBody>
          <a:bodyPr/>
          <a:lstStyle/>
          <a:p>
            <a:r>
              <a:rPr lang="en-US" dirty="0">
                <a:latin typeface="Arial Rounded MT Bold" panose="020F0704030504030204" pitchFamily="34" charset="0"/>
              </a:rPr>
              <a:t>Setting up the solution &amp; MCP connection</a:t>
            </a:r>
          </a:p>
          <a:p>
            <a:r>
              <a:rPr lang="en-US" dirty="0">
                <a:latin typeface="Arial Rounded MT Bold" panose="020F0704030504030204" pitchFamily="34" charset="0"/>
              </a:rPr>
              <a:t>Building the chat interface</a:t>
            </a:r>
          </a:p>
          <a:p>
            <a:r>
              <a:rPr lang="en-US" dirty="0">
                <a:latin typeface="Arial Rounded MT Bold" panose="020F0704030504030204" pitchFamily="34" charset="0"/>
              </a:rPr>
              <a:t>Schema creation through conversation</a:t>
            </a:r>
          </a:p>
          <a:p>
            <a:r>
              <a:rPr lang="en-US" dirty="0">
                <a:latin typeface="Arial Rounded MT Bold" panose="020F0704030504030204" pitchFamily="34" charset="0"/>
              </a:rPr>
              <a:t>Adding speakers and sessions</a:t>
            </a:r>
          </a:p>
          <a:p>
            <a:r>
              <a:rPr lang="en-US" dirty="0">
                <a:latin typeface="Arial Rounded MT Bold" panose="020F0704030504030204" pitchFamily="34" charset="0"/>
              </a:rPr>
              <a:t>Handling registration logic</a:t>
            </a:r>
          </a:p>
          <a:p>
            <a:r>
              <a:rPr lang="en-US" dirty="0">
                <a:latin typeface="Arial Rounded MT Bold" panose="020F0704030504030204" pitchFamily="34" charset="0"/>
              </a:rPr>
              <a:t>Generating reports</a:t>
            </a:r>
          </a:p>
          <a:p>
            <a:endParaRPr lang="en-US" dirty="0">
              <a:latin typeface="Arial Rounded MT Bold" panose="020F0704030504030204" pitchFamily="34" charset="0"/>
            </a:endParaRPr>
          </a:p>
        </p:txBody>
      </p:sp>
    </p:spTree>
    <p:extLst>
      <p:ext uri="{BB962C8B-B14F-4D97-AF65-F5344CB8AC3E}">
        <p14:creationId xmlns:p14="http://schemas.microsoft.com/office/powerpoint/2010/main" val="1280766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A4E7B-A0A7-00F8-2905-EC855AD5F287}"/>
            </a:ext>
          </a:extLst>
        </p:cNvPr>
        <p:cNvGrpSpPr/>
        <p:nvPr/>
      </p:nvGrpSpPr>
      <p:grpSpPr>
        <a:xfrm>
          <a:off x="0" y="0"/>
          <a:ext cx="0" cy="0"/>
          <a:chOff x="0" y="0"/>
          <a:chExt cx="0" cy="0"/>
        </a:xfrm>
      </p:grpSpPr>
      <p:pic>
        <p:nvPicPr>
          <p:cNvPr id="10" name="Picture 9" descr="A white background with blue waves&#10;&#10;AI-generated content may be incorrect.">
            <a:extLst>
              <a:ext uri="{FF2B5EF4-FFF2-40B4-BE49-F238E27FC236}">
                <a16:creationId xmlns:a16="http://schemas.microsoft.com/office/drawing/2014/main" id="{E2A16ECC-BE87-7958-27B4-4CD21F739D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7" name="Title 6">
            <a:extLst>
              <a:ext uri="{FF2B5EF4-FFF2-40B4-BE49-F238E27FC236}">
                <a16:creationId xmlns:a16="http://schemas.microsoft.com/office/drawing/2014/main" id="{F4DD4E89-EA22-FCFA-C850-2A57E1B75A8F}"/>
              </a:ext>
            </a:extLst>
          </p:cNvPr>
          <p:cNvSpPr>
            <a:spLocks noGrp="1"/>
          </p:cNvSpPr>
          <p:nvPr>
            <p:ph type="title"/>
          </p:nvPr>
        </p:nvSpPr>
        <p:spPr/>
        <p:txBody>
          <a:bodyPr/>
          <a:lstStyle/>
          <a:p>
            <a:r>
              <a:rPr lang="en-US" dirty="0">
                <a:latin typeface="Arial Rounded MT Bold" panose="020F0704030504030204" pitchFamily="34" charset="0"/>
              </a:rPr>
              <a:t>What We Actually Built</a:t>
            </a:r>
          </a:p>
        </p:txBody>
      </p:sp>
      <p:sp>
        <p:nvSpPr>
          <p:cNvPr id="8" name="Content Placeholder 7">
            <a:extLst>
              <a:ext uri="{FF2B5EF4-FFF2-40B4-BE49-F238E27FC236}">
                <a16:creationId xmlns:a16="http://schemas.microsoft.com/office/drawing/2014/main" id="{5913A615-D061-3423-AD6B-E1B21F3E6802}"/>
              </a:ext>
            </a:extLst>
          </p:cNvPr>
          <p:cNvSpPr>
            <a:spLocks noGrp="1"/>
          </p:cNvSpPr>
          <p:nvPr>
            <p:ph idx="1"/>
          </p:nvPr>
        </p:nvSpPr>
        <p:spPr>
          <a:xfrm>
            <a:off x="838200" y="1825625"/>
            <a:ext cx="10515600" cy="2734500"/>
          </a:xfrm>
        </p:spPr>
        <p:txBody>
          <a:bodyPr>
            <a:normAutofit/>
          </a:bodyPr>
          <a:lstStyle/>
          <a:p>
            <a:r>
              <a:rPr lang="en-US" dirty="0">
                <a:latin typeface="Arial Rounded MT Bold" panose="020F0704030504030204" pitchFamily="34" charset="0"/>
              </a:rPr>
              <a:t>Quick stats:</a:t>
            </a:r>
          </a:p>
          <a:p>
            <a:pPr lvl="1"/>
            <a:r>
              <a:rPr lang="en-US" dirty="0">
                <a:latin typeface="Arial Rounded MT Bold" panose="020F0704030504030204" pitchFamily="34" charset="0"/>
              </a:rPr>
              <a:t>Lines of C# code: ~500</a:t>
            </a:r>
          </a:p>
          <a:p>
            <a:pPr lvl="1"/>
            <a:r>
              <a:rPr lang="en-US" dirty="0">
                <a:latin typeface="Arial Rounded MT Bold" panose="020F0704030504030204" pitchFamily="34" charset="0"/>
              </a:rPr>
              <a:t>MCP tool calls: ~7.</a:t>
            </a:r>
          </a:p>
          <a:p>
            <a:pPr lvl="1"/>
            <a:r>
              <a:rPr lang="en-US" dirty="0">
                <a:latin typeface="Arial Rounded MT Bold" panose="020F0704030504030204" pitchFamily="34" charset="0"/>
              </a:rPr>
              <a:t>Zero explicit tool calls chosen by the user.</a:t>
            </a:r>
          </a:p>
          <a:p>
            <a:pPr lvl="1"/>
            <a:r>
              <a:rPr lang="en-US" dirty="0">
                <a:latin typeface="Arial Rounded MT Bold" panose="020F0704030504030204" pitchFamily="34" charset="0"/>
              </a:rPr>
              <a:t>Zero SQL written by user.</a:t>
            </a:r>
          </a:p>
          <a:p>
            <a:pPr marL="0" indent="0">
              <a:buNone/>
            </a:pPr>
            <a:endParaRPr lang="en-US" dirty="0">
              <a:latin typeface="Arial Rounded MT Bold" panose="020F0704030504030204" pitchFamily="34" charset="0"/>
            </a:endParaRPr>
          </a:p>
        </p:txBody>
      </p:sp>
    </p:spTree>
    <p:extLst>
      <p:ext uri="{BB962C8B-B14F-4D97-AF65-F5344CB8AC3E}">
        <p14:creationId xmlns:p14="http://schemas.microsoft.com/office/powerpoint/2010/main" val="1006093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0865F-F843-8B6A-CB3B-FB5D30F27778}"/>
            </a:ext>
          </a:extLst>
        </p:cNvPr>
        <p:cNvGrpSpPr/>
        <p:nvPr/>
      </p:nvGrpSpPr>
      <p:grpSpPr>
        <a:xfrm>
          <a:off x="0" y="0"/>
          <a:ext cx="0" cy="0"/>
          <a:chOff x="0" y="0"/>
          <a:chExt cx="0" cy="0"/>
        </a:xfrm>
      </p:grpSpPr>
      <p:pic>
        <p:nvPicPr>
          <p:cNvPr id="10" name="Picture 9" descr="A white background with blue waves&#10;&#10;AI-generated content may be incorrect.">
            <a:extLst>
              <a:ext uri="{FF2B5EF4-FFF2-40B4-BE49-F238E27FC236}">
                <a16:creationId xmlns:a16="http://schemas.microsoft.com/office/drawing/2014/main" id="{45C81ADF-AC73-776C-73A2-3F812C432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81"/>
            <a:ext cx="12192000" cy="6849438"/>
          </a:xfrm>
          <a:prstGeom prst="rect">
            <a:avLst/>
          </a:prstGeom>
        </p:spPr>
      </p:pic>
      <p:sp>
        <p:nvSpPr>
          <p:cNvPr id="7" name="Title 6">
            <a:extLst>
              <a:ext uri="{FF2B5EF4-FFF2-40B4-BE49-F238E27FC236}">
                <a16:creationId xmlns:a16="http://schemas.microsoft.com/office/drawing/2014/main" id="{488B350B-417D-30AF-6B68-C8DA77D04CC5}"/>
              </a:ext>
            </a:extLst>
          </p:cNvPr>
          <p:cNvSpPr>
            <a:spLocks noGrp="1"/>
          </p:cNvSpPr>
          <p:nvPr>
            <p:ph type="title"/>
          </p:nvPr>
        </p:nvSpPr>
        <p:spPr/>
        <p:txBody>
          <a:bodyPr/>
          <a:lstStyle/>
          <a:p>
            <a:r>
              <a:rPr lang="en-US" dirty="0">
                <a:latin typeface="Arial Rounded MT Bold" panose="020F0704030504030204" pitchFamily="34" charset="0"/>
              </a:rPr>
              <a:t>Key Takeaways</a:t>
            </a:r>
          </a:p>
        </p:txBody>
      </p:sp>
      <p:sp>
        <p:nvSpPr>
          <p:cNvPr id="8" name="Content Placeholder 7">
            <a:extLst>
              <a:ext uri="{FF2B5EF4-FFF2-40B4-BE49-F238E27FC236}">
                <a16:creationId xmlns:a16="http://schemas.microsoft.com/office/drawing/2014/main" id="{C39D530C-03CA-731A-5739-31F26DAFE8E0}"/>
              </a:ext>
            </a:extLst>
          </p:cNvPr>
          <p:cNvSpPr>
            <a:spLocks noGrp="1"/>
          </p:cNvSpPr>
          <p:nvPr>
            <p:ph idx="1"/>
          </p:nvPr>
        </p:nvSpPr>
        <p:spPr/>
        <p:txBody>
          <a:bodyPr/>
          <a:lstStyle/>
          <a:p>
            <a:r>
              <a:rPr lang="en-US" dirty="0">
                <a:latin typeface="Arial Rounded MT Bold" panose="020F0704030504030204" pitchFamily="34" charset="0"/>
              </a:rPr>
              <a:t>Integration &gt; Creation: Use existing MCP servers</a:t>
            </a:r>
          </a:p>
          <a:p>
            <a:r>
              <a:rPr lang="en-US">
                <a:latin typeface="Arial Rounded MT Bold" panose="020F0704030504030204" pitchFamily="34" charset="0"/>
              </a:rPr>
              <a:t>LLM as </a:t>
            </a:r>
            <a:r>
              <a:rPr lang="en-US" dirty="0">
                <a:latin typeface="Arial Rounded MT Bold" panose="020F0704030504030204" pitchFamily="34" charset="0"/>
              </a:rPr>
              <a:t>Orchestrator: Let it handle the tool selection</a:t>
            </a:r>
          </a:p>
          <a:p>
            <a:r>
              <a:rPr lang="en-US" dirty="0">
                <a:latin typeface="Arial Rounded MT Bold" panose="020F0704030504030204" pitchFamily="34" charset="0"/>
              </a:rPr>
              <a:t>Business Logic Matters: Validation, error handling, UX</a:t>
            </a:r>
          </a:p>
          <a:p>
            <a:r>
              <a:rPr lang="en-US" dirty="0">
                <a:latin typeface="Arial Rounded MT Bold" panose="020F0704030504030204" pitchFamily="34" charset="0"/>
              </a:rPr>
              <a:t>Prompt Engineering: Clear, specific instructions</a:t>
            </a:r>
          </a:p>
          <a:p>
            <a:pPr marL="0" indent="0">
              <a:buNone/>
            </a:pPr>
            <a:endParaRPr lang="en-US" dirty="0">
              <a:latin typeface="Arial Rounded MT Bold" panose="020F0704030504030204" pitchFamily="34" charset="0"/>
            </a:endParaRPr>
          </a:p>
        </p:txBody>
      </p:sp>
    </p:spTree>
    <p:extLst>
      <p:ext uri="{BB962C8B-B14F-4D97-AF65-F5344CB8AC3E}">
        <p14:creationId xmlns:p14="http://schemas.microsoft.com/office/powerpoint/2010/main" val="441496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5BC61-9325-D9E2-17FA-9C90B914BA9D}"/>
            </a:ext>
          </a:extLst>
        </p:cNvPr>
        <p:cNvGrpSpPr/>
        <p:nvPr/>
      </p:nvGrpSpPr>
      <p:grpSpPr>
        <a:xfrm>
          <a:off x="0" y="0"/>
          <a:ext cx="0" cy="0"/>
          <a:chOff x="0" y="0"/>
          <a:chExt cx="0" cy="0"/>
        </a:xfrm>
      </p:grpSpPr>
      <p:pic>
        <p:nvPicPr>
          <p:cNvPr id="4" name="Picture 3" descr="A white background with blue waves&#10;&#10;AI-generated content may be incorrect.">
            <a:extLst>
              <a:ext uri="{FF2B5EF4-FFF2-40B4-BE49-F238E27FC236}">
                <a16:creationId xmlns:a16="http://schemas.microsoft.com/office/drawing/2014/main" id="{A5E4C2C9-AB34-044F-23A1-EC4904528A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49438"/>
          </a:xfrm>
          <a:prstGeom prst="rect">
            <a:avLst/>
          </a:prstGeom>
        </p:spPr>
      </p:pic>
      <p:sp>
        <p:nvSpPr>
          <p:cNvPr id="8" name="Title 1">
            <a:extLst>
              <a:ext uri="{FF2B5EF4-FFF2-40B4-BE49-F238E27FC236}">
                <a16:creationId xmlns:a16="http://schemas.microsoft.com/office/drawing/2014/main" id="{799ED1A9-355E-6AD9-5D40-7AC64C8BC6F0}"/>
              </a:ext>
            </a:extLst>
          </p:cNvPr>
          <p:cNvSpPr txBox="1">
            <a:spLocks/>
          </p:cNvSpPr>
          <p:nvPr/>
        </p:nvSpPr>
        <p:spPr>
          <a:xfrm>
            <a:off x="0" y="1873920"/>
            <a:ext cx="12192000" cy="1420811"/>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5400" b="0" i="0" u="none" strike="noStrike" kern="1200" cap="none" spc="0" normalizeH="0" baseline="0" noProof="0" dirty="0">
                <a:ln>
                  <a:noFill/>
                </a:ln>
                <a:effectLst/>
                <a:uLnTx/>
                <a:uFillTx/>
                <a:latin typeface="Arial Rounded MT Bold" panose="020F0704030504030204" pitchFamily="34" charset="0"/>
                <a:ea typeface="+mj-ea"/>
                <a:cs typeface="+mj-cs"/>
              </a:rPr>
              <a:t>Thank You</a:t>
            </a:r>
            <a:br>
              <a:rPr kumimoji="0" lang="en-AU" sz="5400" b="0" i="0" u="none" strike="noStrike" kern="1200" cap="none" spc="0" normalizeH="0" baseline="0" noProof="0" dirty="0">
                <a:ln>
                  <a:noFill/>
                </a:ln>
                <a:effectLst/>
                <a:uLnTx/>
                <a:uFillTx/>
                <a:latin typeface="Arial Rounded MT Bold" panose="020F0704030504030204" pitchFamily="34" charset="0"/>
                <a:ea typeface="+mj-ea"/>
                <a:cs typeface="+mj-cs"/>
              </a:rPr>
            </a:br>
            <a:r>
              <a:rPr kumimoji="0" lang="en-AU" sz="4800" b="0" i="0" u="none" strike="noStrike" kern="1200" cap="none" spc="0" normalizeH="0" baseline="0" noProof="0" dirty="0">
                <a:ln>
                  <a:noFill/>
                </a:ln>
                <a:effectLst/>
                <a:uLnTx/>
                <a:uFillTx/>
                <a:latin typeface="Arial Rounded MT Bold" panose="020F0704030504030204" pitchFamily="34" charset="0"/>
                <a:ea typeface="+mj-ea"/>
                <a:cs typeface="+mj-cs"/>
              </a:rPr>
              <a:t>Questions?</a:t>
            </a:r>
          </a:p>
        </p:txBody>
      </p:sp>
      <p:sp>
        <p:nvSpPr>
          <p:cNvPr id="9" name="Subtitle 2">
            <a:extLst>
              <a:ext uri="{FF2B5EF4-FFF2-40B4-BE49-F238E27FC236}">
                <a16:creationId xmlns:a16="http://schemas.microsoft.com/office/drawing/2014/main" id="{A3585BD4-A4EA-302D-A762-84ACEA203E74}"/>
              </a:ext>
            </a:extLst>
          </p:cNvPr>
          <p:cNvSpPr txBox="1">
            <a:spLocks/>
          </p:cNvSpPr>
          <p:nvPr/>
        </p:nvSpPr>
        <p:spPr>
          <a:xfrm>
            <a:off x="994350" y="4209281"/>
            <a:ext cx="5391460" cy="1918740"/>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effectLst/>
                <a:uLnTx/>
                <a:uFillTx/>
                <a:latin typeface="Arial Rounded MT Bold" panose="020F0704030504030204" pitchFamily="34" charset="0"/>
                <a:ea typeface="+mn-ea"/>
                <a:cs typeface="+mn-cs"/>
              </a:rPr>
              <a:t>Niels Berglund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effectLst/>
                <a:uLnTx/>
                <a:uFillTx/>
                <a:latin typeface="Arial Rounded MT Bold" panose="020F0704030504030204" pitchFamily="34" charset="0"/>
                <a:ea typeface="+mn-ea"/>
                <a:cs typeface="+mn-cs"/>
              </a:rPr>
              <a:t>niels.it.berglund@gmail.com</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effectLst/>
                <a:uLnTx/>
                <a:uFillTx/>
                <a:latin typeface="Arial Rounded MT Bold" panose="020F0704030504030204" pitchFamily="34" charset="0"/>
                <a:ea typeface="+mn-ea"/>
                <a:cs typeface="+mn-cs"/>
              </a:rPr>
              <a:t>https://nielsberglund.com</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effectLst/>
                <a:uLnTx/>
                <a:uFillTx/>
                <a:latin typeface="Arial Rounded MT Bold" panose="020F0704030504030204" pitchFamily="34" charset="0"/>
                <a:ea typeface="+mn-ea"/>
                <a:cs typeface="+mn-cs"/>
              </a:rPr>
              <a:t>https://linkedin.com/in/nielsberglund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24713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1126</TotalTime>
  <Words>757</Words>
  <Application>Microsoft Office PowerPoint</Application>
  <PresentationFormat>Widescreen</PresentationFormat>
  <Paragraphs>91</Paragraphs>
  <Slides>14</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Aptos</vt:lpstr>
      <vt:lpstr>Aptos Display</vt:lpstr>
      <vt:lpstr>Arial</vt:lpstr>
      <vt:lpstr>Arial Rounded MT Bold</vt:lpstr>
      <vt:lpstr>Calibri</vt:lpstr>
      <vt:lpstr>Office Theme</vt:lpstr>
      <vt:lpstr>1_Office Theme</vt:lpstr>
      <vt:lpstr>PowerPoint Presentation</vt:lpstr>
      <vt:lpstr>PowerPoint Presentation</vt:lpstr>
      <vt:lpstr>The MCP Tutorial Problem</vt:lpstr>
      <vt:lpstr>What We're Doing Today - I</vt:lpstr>
      <vt:lpstr>What We're Doing Today - II</vt:lpstr>
      <vt:lpstr>What is MCP? (The 60-Second Version)</vt:lpstr>
      <vt:lpstr>MCP Architecture Components</vt:lpstr>
      <vt:lpstr>Why MCP Matters for Enterprise Apps</vt:lpstr>
      <vt:lpstr>The MSSQL MCP Server</vt:lpstr>
      <vt:lpstr>Our Architecture Today</vt:lpstr>
      <vt:lpstr>Demo Roadmap: Our Coding Path</vt:lpstr>
      <vt:lpstr>What We Actually Built</vt:lpstr>
      <vt:lpstr>Key 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Niels Berglund</dc:creator>
  <cp:lastModifiedBy>Niels Berglund</cp:lastModifiedBy>
  <cp:revision>5</cp:revision>
  <dcterms:created xsi:type="dcterms:W3CDTF">2025-11-01T10:12:24Z</dcterms:created>
  <dcterms:modified xsi:type="dcterms:W3CDTF">2025-12-08T06:08:37Z</dcterms:modified>
</cp:coreProperties>
</file>