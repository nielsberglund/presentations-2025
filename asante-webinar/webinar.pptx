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B72C3D5-12A9-430B-B690-9930EC3B83BF}">
          <p14:sldIdLst>
            <p14:sldId id="256"/>
          </p14:sldIdLst>
        </p14:section>
        <p14:section name="S1" id="{FC8AACDA-0E89-4BE8-A4D4-2A4D0D5A65F2}">
          <p14:sldIdLst>
            <p14:sldId id="257"/>
            <p14:sldId id="258"/>
            <p14:sldId id="259"/>
          </p14:sldIdLst>
        </p14:section>
        <p14:section name="S2 - AIs growing role in marketing" id="{8E03A54C-004D-4BAF-9E43-7E8926E343A0}">
          <p14:sldIdLst>
            <p14:sldId id="260"/>
            <p14:sldId id="261"/>
            <p14:sldId id="262"/>
            <p14:sldId id="263"/>
          </p14:sldIdLst>
        </p14:section>
        <p14:section name="S3 Data Engineering's Critical Role" id="{0B4EED92-3C14-4FA5-9863-952BE6386853}">
          <p14:sldIdLst>
            <p14:sldId id="264"/>
            <p14:sldId id="265"/>
            <p14:sldId id="266"/>
          </p14:sldIdLst>
        </p14:section>
        <p14:section name="S4 - Strategy, Ethics &amp; Business Impact" id="{0013A98E-71E5-4707-9F8B-D85762AD8DB1}">
          <p14:sldIdLst>
            <p14:sldId id="267"/>
            <p14:sldId id="268"/>
            <p14:sldId id="269"/>
          </p14:sldIdLst>
        </p14:section>
        <p14:section name="S5 - Future Outlook" id="{339EB3C8-A5BF-47E0-8079-5129ABE8B24B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7" d="100"/>
          <a:sy n="107" d="100"/>
        </p:scale>
        <p:origin x="1027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els Berglund" userId="6462ffc3c746bb1c" providerId="LiveId" clId="{572CFA61-6849-42BD-B1DA-93EA9D7DCECD}"/>
    <pc:docChg chg="modSld addSection modSection">
      <pc:chgData name="Niels Berglund" userId="6462ffc3c746bb1c" providerId="LiveId" clId="{572CFA61-6849-42BD-B1DA-93EA9D7DCECD}" dt="2025-11-27T15:54:14.059" v="18" actId="17846"/>
      <pc:docMkLst>
        <pc:docMk/>
      </pc:docMkLst>
      <pc:sldChg chg="modSp mod">
        <pc:chgData name="Niels Berglund" userId="6462ffc3c746bb1c" providerId="LiveId" clId="{572CFA61-6849-42BD-B1DA-93EA9D7DCECD}" dt="2025-11-27T15:39:01.156" v="8" actId="207"/>
        <pc:sldMkLst>
          <pc:docMk/>
          <pc:sldMk cId="1971739706" sldId="257"/>
        </pc:sldMkLst>
        <pc:spChg chg="mod">
          <ac:chgData name="Niels Berglund" userId="6462ffc3c746bb1c" providerId="LiveId" clId="{572CFA61-6849-42BD-B1DA-93EA9D7DCECD}" dt="2025-11-27T15:39:01.156" v="8" actId="207"/>
          <ac:spMkLst>
            <pc:docMk/>
            <pc:sldMk cId="1971739706" sldId="257"/>
            <ac:spMk id="4" creationId="{CCDD21C9-F6ED-A0BB-2599-89229627C58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A9DD7-F659-A2D7-8284-62579AFFC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E2412-5724-9BFC-B12A-7CDC19813B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0A1A5-BB9B-503E-FB7E-29E475C94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DF94-8148-ED4C-8DB1-0E6CD3841C30}" type="datetimeFigureOut">
              <a:rPr lang="en-US" smtClean="0"/>
              <a:t>2025-11-27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5325D-A9DA-4F07-3FB3-23AE6497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975A-CC36-9022-3C8C-2BBAFB040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2FCF-A6F9-AA47-8AA6-A87DBF95E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33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20B8-04AE-8F2E-2DEF-EE62F9CA4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F8CCB-B95E-067F-A820-5AE760778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27B-1F35-E201-FCA6-3AC82B58D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DF94-8148-ED4C-8DB1-0E6CD3841C30}" type="datetimeFigureOut">
              <a:rPr lang="en-US" smtClean="0"/>
              <a:t>2025-11-27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C86E0-3C5B-CFA4-028B-2A50E302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A6E0D-04D7-7B3E-9A81-B4399B82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2FCF-A6F9-AA47-8AA6-A87DBF95E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14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664C2-B144-FB5F-C673-F1C733C69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BC242-EF0A-E6F9-C2A9-325202AF7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28F74-92BB-D176-D243-F0B45075D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DF94-8148-ED4C-8DB1-0E6CD3841C30}" type="datetimeFigureOut">
              <a:rPr lang="en-US" smtClean="0"/>
              <a:t>2025-11-27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B6ED-EB53-ABD8-C693-1202E95E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AFD57-65B5-1F7E-FF9B-735A2BB1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2FCF-A6F9-AA47-8AA6-A87DBF95E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75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DE26-A81C-E0AA-7629-87FF6D4C5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C6A50-318C-9BDD-6A4C-48E35A6DE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B47FA-4552-27A7-C70C-CEF56298B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34D9F-4E80-DABB-D3B7-A95517BE5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DF94-8148-ED4C-8DB1-0E6CD3841C30}" type="datetimeFigureOut">
              <a:rPr lang="en-US" smtClean="0"/>
              <a:t>2025-11-27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D492C-F8DF-11AA-29CB-5FC6F95BE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6F330-8871-D87F-DA3A-D2F9481C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2FCF-A6F9-AA47-8AA6-A87DBF95E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38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5ED6-7C71-2DF5-F75F-312E56CA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7ADFD-4437-D9F9-B994-9FE100E37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3227-8831-21FD-C35D-4E81881AF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16C59-D836-226E-ACFA-4436744F3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79D3C3-7CF4-7E6A-F00A-60EACE7CFD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DCAF30-44D7-7C31-C6D4-169BAA264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DF94-8148-ED4C-8DB1-0E6CD3841C30}" type="datetimeFigureOut">
              <a:rPr lang="en-US" smtClean="0"/>
              <a:t>2025-11-27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BD2E32-F4FB-85E0-E8CD-B728212D5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BC3335-3737-0DDA-876A-FD45F45EB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2FCF-A6F9-AA47-8AA6-A87DBF95E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77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6660-8A02-1451-5526-6BC7DE816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E8AB5-9820-1172-C207-6DC53E573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DF94-8148-ED4C-8DB1-0E6CD3841C30}" type="datetimeFigureOut">
              <a:rPr lang="en-US" smtClean="0"/>
              <a:t>2025-11-27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0EA298-CF6C-C167-BE9D-D29FAF50A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6F2D2-8499-E48F-1549-B26AFDD1A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2FCF-A6F9-AA47-8AA6-A87DBF95E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2CDD5-F2F6-94E6-5DD3-4DC50D4F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DF94-8148-ED4C-8DB1-0E6CD3841C30}" type="datetimeFigureOut">
              <a:rPr lang="en-US" smtClean="0"/>
              <a:t>2025-11-27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63D9DE-4D8E-5F9F-39F6-49B731313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7A3CD-80F8-E085-2BA1-33034C503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2FCF-A6F9-AA47-8AA6-A87DBF95E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9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50C8-0ECE-2A3B-363A-C71657C7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10C99-C548-F173-6BD1-18C9B934C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21967-53B2-B284-4F4B-2EBB262E4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51E59-1A60-672B-0C31-54FDF618E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DF94-8148-ED4C-8DB1-0E6CD3841C30}" type="datetimeFigureOut">
              <a:rPr lang="en-US" smtClean="0"/>
              <a:t>2025-11-27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0B0DE-0D7D-D920-6729-E54BD761D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78B72-2EDA-C50F-6415-2407C96B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2FCF-A6F9-AA47-8AA6-A87DBF95E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83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8BE9-FB11-5819-83FD-895BBF829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74C796-C98A-E1CC-0211-341113C4CD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0BF35-72E8-915A-6003-AAFAAE58A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1109D-E105-7435-2BE5-35237BCE1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DF94-8148-ED4C-8DB1-0E6CD3841C30}" type="datetimeFigureOut">
              <a:rPr lang="en-US" smtClean="0"/>
              <a:t>2025-11-27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45DC7-4580-AD68-F815-95A494901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587E0-199D-B25C-7B07-24D98B18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2FCF-A6F9-AA47-8AA6-A87DBF95E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0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0D61A-8A58-B64C-6BAE-79EC0B14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07321-DA3F-9D22-2314-F93E76E94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AB1B1-3843-6956-95EF-3650EA25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DF94-8148-ED4C-8DB1-0E6CD3841C30}" type="datetimeFigureOut">
              <a:rPr lang="en-US" smtClean="0"/>
              <a:t>2025-11-27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7983E-4234-9123-6D1A-27446EA0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42234-9A27-1029-8266-8AE1A413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2FCF-A6F9-AA47-8AA6-A87DBF95E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55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55D16B-81A3-031E-1C72-43BB0C653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E9354-C0AF-5F1B-F257-40F2C1B89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54BA2-1811-4E44-D495-2254AC4A2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DF94-8148-ED4C-8DB1-0E6CD3841C30}" type="datetimeFigureOut">
              <a:rPr lang="en-US" smtClean="0"/>
              <a:t>2025-11-27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7DB90-5469-D970-52C2-9762C1D37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EDAC3-278D-8233-FA3E-D78F86C97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2FCF-A6F9-AA47-8AA6-A87DBF95E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0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74617A-9A28-A13E-DAEB-E527A702D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732C5-8F12-94D2-F945-F436EF298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5BE65-860C-F97A-EABF-7CA2B598E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DEDF94-8148-ED4C-8DB1-0E6CD3841C30}" type="datetimeFigureOut">
              <a:rPr lang="en-US" smtClean="0"/>
              <a:t>2025-11-27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FF4D3-DA16-EE11-6F77-44A6ADA23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6AD9C-2BAC-3086-B9E0-50BF4B6F2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62FCF-A6F9-AA47-8AA6-A87DBF95E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3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CDC1-82BA-A4E5-CBD9-079AD89C77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C9122-4520-2397-60D9-A44DD23820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33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7DBB-AF6B-EF04-31E1-BB2D3319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S1-1: To successfully achieve "hyper-personalization," we talk a lot about Marketing technology [</a:t>
            </a:r>
            <a:r>
              <a:rPr lang="en-US" sz="2400" dirty="0" err="1"/>
              <a:t>MarTech</a:t>
            </a:r>
            <a:r>
              <a:rPr lang="en-US" sz="2400" dirty="0"/>
              <a:t>] and AI, but where does the Data Engineer fit in? Why is that foundation the most critical piece of the puzzle?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D21C9-F6ED-A0BB-2599-89229627C589}"/>
              </a:ext>
            </a:extLst>
          </p:cNvPr>
          <p:cNvSpPr txBox="1"/>
          <p:nvPr/>
        </p:nvSpPr>
        <p:spPr>
          <a:xfrm>
            <a:off x="779813" y="1935678"/>
            <a:ext cx="1124989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is a fantastic question that cuts to the heart of why so many </a:t>
            </a:r>
            <a:r>
              <a:rPr lang="en-US" sz="2000" dirty="0" err="1"/>
              <a:t>MarTech</a:t>
            </a:r>
            <a:r>
              <a:rPr lang="en-US" sz="2000" dirty="0"/>
              <a:t> investments underperform. Hyper-personalization doesn’t actually start with </a:t>
            </a:r>
            <a:r>
              <a:rPr lang="en-US" sz="2000" dirty="0" err="1"/>
              <a:t>MarTech</a:t>
            </a:r>
            <a:r>
              <a:rPr lang="en-US" sz="2000" dirty="0"/>
              <a:t> tools or AI models—it starts with </a:t>
            </a:r>
            <a:r>
              <a:rPr lang="en-US" sz="2000" b="1" dirty="0">
                <a:solidFill>
                  <a:srgbClr val="FF0000"/>
                </a:solidFill>
              </a:rPr>
              <a:t>data engineering</a:t>
            </a:r>
            <a:r>
              <a:rPr lang="en-US" sz="2000" dirty="0"/>
              <a:t>, because if your data is </a:t>
            </a:r>
            <a:r>
              <a:rPr lang="en-US" sz="2000" b="1" dirty="0">
                <a:solidFill>
                  <a:srgbClr val="FF0000"/>
                </a:solidFill>
              </a:rPr>
              <a:t>siloed, dirty, or poorly stitched together</a:t>
            </a:r>
            <a:r>
              <a:rPr lang="en-US" sz="2000" dirty="0"/>
              <a:t>, even the smartest AI will just automate “</a:t>
            </a:r>
            <a:r>
              <a:rPr lang="en-US" sz="2000" b="1" dirty="0">
                <a:solidFill>
                  <a:srgbClr val="FF0000"/>
                </a:solidFill>
              </a:rPr>
              <a:t>garbage in, garbage out</a:t>
            </a:r>
            <a:r>
              <a:rPr lang="en-US" sz="2000" dirty="0"/>
              <a:t>.”</a:t>
            </a:r>
          </a:p>
          <a:p>
            <a:endParaRPr lang="en-US" sz="2000" dirty="0"/>
          </a:p>
          <a:p>
            <a:r>
              <a:rPr lang="en-US" sz="2000" dirty="0"/>
              <a:t>Data engineers build the pipelines and customer data foundation (CDP/warehouse, identity resolution, real-time flows, consent and governance) that turn scattered CRM, web, transactional, and support data into a reliable single customer view that AI can truly act on. The brands winning at hyper-personalization are the ones that treated this </a:t>
            </a:r>
            <a:r>
              <a:rPr lang="en-US" sz="2000" b="1" dirty="0">
                <a:solidFill>
                  <a:srgbClr val="FF0000"/>
                </a:solidFill>
              </a:rPr>
              <a:t>data infrastructure as mission-critical</a:t>
            </a:r>
            <a:r>
              <a:rPr lang="en-US" sz="2000" dirty="0"/>
              <a:t>, investing in it before chasing shiny new AI tools.</a:t>
            </a:r>
          </a:p>
        </p:txBody>
      </p:sp>
    </p:spTree>
    <p:extLst>
      <p:ext uri="{BB962C8B-B14F-4D97-AF65-F5344CB8AC3E}">
        <p14:creationId xmlns:p14="http://schemas.microsoft.com/office/powerpoint/2010/main" val="1971739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7F731-91DA-D6E6-9717-A5E2BE620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CBE94-D129-C659-96D2-0A7974C63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S1-2: In your experience, what are the top three most common issues you find in a company's data architecture that immediately bottleneck their AI and personalization efforts?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C789C-F3BD-384C-9B4D-F00D4CD5D85F}"/>
              </a:ext>
            </a:extLst>
          </p:cNvPr>
          <p:cNvSpPr txBox="1"/>
          <p:nvPr/>
        </p:nvSpPr>
        <p:spPr>
          <a:xfrm>
            <a:off x="779813" y="1935678"/>
            <a:ext cx="112498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Great question—this gets to the practical realities that derail so many </a:t>
            </a:r>
            <a:r>
              <a:rPr lang="en-US" sz="2000" dirty="0" err="1"/>
              <a:t>MarTech</a:t>
            </a:r>
            <a:r>
              <a:rPr lang="en-US" sz="2000" dirty="0"/>
              <a:t> initiatives. I typically see three data issues that kill AI and personalization before they even start: </a:t>
            </a:r>
            <a:r>
              <a:rPr lang="en-US" sz="2000" b="1" dirty="0">
                <a:solidFill>
                  <a:srgbClr val="FF0000"/>
                </a:solidFill>
              </a:rPr>
              <a:t>siloed systems </a:t>
            </a:r>
            <a:r>
              <a:rPr lang="en-US" sz="2000" dirty="0"/>
              <a:t>that fragment customer data across departments, </a:t>
            </a:r>
            <a:r>
              <a:rPr lang="en-US" sz="2000" b="1" dirty="0">
                <a:solidFill>
                  <a:srgbClr val="FF0000"/>
                </a:solidFill>
              </a:rPr>
              <a:t>poor data quality </a:t>
            </a:r>
            <a:r>
              <a:rPr lang="en-US" sz="2000" dirty="0"/>
              <a:t>that leads to “garbage in, AI out,” and </a:t>
            </a:r>
            <a:r>
              <a:rPr lang="en-US" sz="2000" b="1" dirty="0">
                <a:solidFill>
                  <a:srgbClr val="FF0000"/>
                </a:solidFill>
              </a:rPr>
              <a:t>broken identity resolution </a:t>
            </a:r>
            <a:r>
              <a:rPr lang="en-US" sz="2000" dirty="0"/>
              <a:t>where the same person appears as five different “customers” in your systems. </a:t>
            </a:r>
          </a:p>
          <a:p>
            <a:endParaRPr lang="en-US" sz="2000" dirty="0"/>
          </a:p>
          <a:p>
            <a:r>
              <a:rPr lang="en-US" sz="2000" dirty="0"/>
              <a:t>Together, these show up as shocking stats: </a:t>
            </a:r>
            <a:r>
              <a:rPr lang="en-US" sz="2000" b="1" dirty="0">
                <a:solidFill>
                  <a:srgbClr val="FF0000"/>
                </a:solidFill>
              </a:rPr>
              <a:t>81%</a:t>
            </a:r>
            <a:r>
              <a:rPr lang="en-US" sz="2000" dirty="0"/>
              <a:t> of IT leaders say data silos hinder digital transformation, </a:t>
            </a:r>
            <a:r>
              <a:rPr lang="en-US" sz="2000" b="1" dirty="0">
                <a:solidFill>
                  <a:srgbClr val="FF0000"/>
                </a:solidFill>
              </a:rPr>
              <a:t>95% say integration challenges block AI</a:t>
            </a:r>
            <a:r>
              <a:rPr lang="en-US" sz="2000" dirty="0"/>
              <a:t>, companies lose on average $15 million a year to bad data, and the average household now has 21 connected devices—magnifying the identity problem. The core message I share with leaders is simple: these are data engineering problems, not AI-tool problems—until you fix silos, quality, and identity, no model or </a:t>
            </a:r>
            <a:r>
              <a:rPr lang="en-US" sz="2000" dirty="0" err="1"/>
              <a:t>MarTech</a:t>
            </a:r>
            <a:r>
              <a:rPr lang="en-US" sz="2000" dirty="0"/>
              <a:t> stack will deliver on the promise of personalization.</a:t>
            </a:r>
          </a:p>
        </p:txBody>
      </p:sp>
    </p:spTree>
    <p:extLst>
      <p:ext uri="{BB962C8B-B14F-4D97-AF65-F5344CB8AC3E}">
        <p14:creationId xmlns:p14="http://schemas.microsoft.com/office/powerpoint/2010/main" val="2973261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70AEB-50D2-D6DF-2A0C-DAFED5897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E297-8347-7AD1-8F42-AC7633B54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S1-3: Once a company has clean and unified data, how does AI transform that into </a:t>
            </a:r>
            <a:r>
              <a:rPr lang="en-US" sz="2400" dirty="0" err="1"/>
              <a:t>personalisation</a:t>
            </a:r>
            <a:r>
              <a:rPr lang="en-US" sz="2400" dirty="0"/>
              <a:t> the end-user can actually experience?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556E7-B22C-50CB-ACF1-958D00D227BD}"/>
              </a:ext>
            </a:extLst>
          </p:cNvPr>
          <p:cNvSpPr txBox="1"/>
          <p:nvPr/>
        </p:nvSpPr>
        <p:spPr>
          <a:xfrm>
            <a:off x="779813" y="1935678"/>
            <a:ext cx="1124989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Excellent question—this is where the </a:t>
            </a:r>
            <a:r>
              <a:rPr lang="en-US" sz="2000" b="1" dirty="0">
                <a:solidFill>
                  <a:srgbClr val="FF0000"/>
                </a:solidFill>
              </a:rPr>
              <a:t>magic</a:t>
            </a:r>
            <a:r>
              <a:rPr lang="en-US" sz="2000" dirty="0"/>
              <a:t> happens for the customer. Once you’ve got clean, unified data, AI becomes the “brain” that turns static profiles into living, real-time experiences – deciding the next best action for each customer and delivering it via tailored recommendations, dynamic content, the right channel, and even proactive service before problems occur.</a:t>
            </a:r>
          </a:p>
          <a:p>
            <a:endParaRPr lang="en-US" sz="2000" dirty="0"/>
          </a:p>
          <a:p>
            <a:r>
              <a:rPr lang="en-US" sz="2000" dirty="0"/>
              <a:t>We’re moving from brittle, rules-based journeys to AI decisioning that reacts in the moment, which is why things like </a:t>
            </a:r>
            <a:r>
              <a:rPr lang="en-US" sz="2000" b="1" dirty="0">
                <a:solidFill>
                  <a:srgbClr val="FF0000"/>
                </a:solidFill>
              </a:rPr>
              <a:t>Amazon deriving ~35% of its revenue from recommendations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rgbClr val="FF0000"/>
                </a:solidFill>
              </a:rPr>
              <a:t>McKinsey’s data showing AI-driven “next best experience” can lift satisfaction by 15–20%, revenue by 5–8%, and cut cost-to-serve by up to 30%</a:t>
            </a:r>
            <a:r>
              <a:rPr lang="en-US" sz="2000" dirty="0"/>
              <a:t> are so powerful. The punchline for the audience: this kind of 1:1, always-on personalization is only possible because </a:t>
            </a:r>
            <a:r>
              <a:rPr lang="en-US" sz="2000" b="1" dirty="0">
                <a:solidFill>
                  <a:srgbClr val="FF0000"/>
                </a:solidFill>
              </a:rPr>
              <a:t>clean data feeds the AI, making the data engineer the unsung hero of the </a:t>
            </a:r>
            <a:r>
              <a:rPr lang="en-US" sz="2000" b="1" dirty="0" err="1">
                <a:solidFill>
                  <a:srgbClr val="FF0000"/>
                </a:solidFill>
              </a:rPr>
              <a:t>MarTech</a:t>
            </a:r>
            <a:r>
              <a:rPr lang="en-US" sz="2000" b="1" dirty="0">
                <a:solidFill>
                  <a:srgbClr val="FF0000"/>
                </a:solidFill>
              </a:rPr>
              <a:t> stack.</a:t>
            </a:r>
          </a:p>
        </p:txBody>
      </p:sp>
    </p:spTree>
    <p:extLst>
      <p:ext uri="{BB962C8B-B14F-4D97-AF65-F5344CB8AC3E}">
        <p14:creationId xmlns:p14="http://schemas.microsoft.com/office/powerpoint/2010/main" val="192869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195ED-0A0E-E984-8BD5-EA561C094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75E1A-E8BC-A920-2E43-799595DF8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S2-1: Once we have clean, unified data, how does AI and Machine Learning transform that historical data into predictive insights that </a:t>
            </a:r>
            <a:r>
              <a:rPr lang="en-US" sz="2400" dirty="0" err="1"/>
              <a:t>MarTech</a:t>
            </a:r>
            <a:r>
              <a:rPr lang="en-US" sz="2400" dirty="0"/>
              <a:t> can actually use?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2C314-2077-8C68-04E7-48B50A4DA63A}"/>
              </a:ext>
            </a:extLst>
          </p:cNvPr>
          <p:cNvSpPr txBox="1"/>
          <p:nvPr/>
        </p:nvSpPr>
        <p:spPr>
          <a:xfrm>
            <a:off x="779813" y="1935678"/>
            <a:ext cx="1124989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is the technical heart of the matter—where data </a:t>
            </a:r>
            <a:r>
              <a:rPr lang="en-US" sz="2000" b="1" dirty="0">
                <a:solidFill>
                  <a:srgbClr val="FF0000"/>
                </a:solidFill>
              </a:rPr>
              <a:t>science meets marketing execution</a:t>
            </a:r>
            <a:r>
              <a:rPr lang="en-US" sz="2000" dirty="0"/>
              <a:t>. Once the data is clean and unified, AI/ML turns it into a </a:t>
            </a:r>
            <a:r>
              <a:rPr lang="en-US" sz="2000" b="1" dirty="0">
                <a:solidFill>
                  <a:srgbClr val="FF0000"/>
                </a:solidFill>
              </a:rPr>
              <a:t>full predictive pipeline</a:t>
            </a:r>
            <a:r>
              <a:rPr lang="en-US" sz="2000" dirty="0"/>
              <a:t>: models learn from </a:t>
            </a:r>
            <a:r>
              <a:rPr lang="en-US" sz="2000" b="1" dirty="0">
                <a:solidFill>
                  <a:srgbClr val="FF0000"/>
                </a:solidFill>
              </a:rPr>
              <a:t>demographics, </a:t>
            </a:r>
            <a:r>
              <a:rPr lang="en-US" sz="2000" b="1" dirty="0" err="1">
                <a:solidFill>
                  <a:srgbClr val="FF0000"/>
                </a:solidFill>
              </a:rPr>
              <a:t>behaviour</a:t>
            </a:r>
            <a:r>
              <a:rPr lang="en-US" sz="2000" b="1" dirty="0">
                <a:solidFill>
                  <a:srgbClr val="FF0000"/>
                </a:solidFill>
              </a:rPr>
              <a:t>, and transactions </a:t>
            </a:r>
            <a:r>
              <a:rPr lang="en-US" sz="2000" dirty="0"/>
              <a:t>to f</a:t>
            </a:r>
            <a:r>
              <a:rPr lang="en-US" sz="2000" b="1" dirty="0">
                <a:solidFill>
                  <a:srgbClr val="FF0000"/>
                </a:solidFill>
              </a:rPr>
              <a:t>orecast things like churn, conversion, lifetime value, and next-best action</a:t>
            </a:r>
            <a:r>
              <a:rPr lang="en-US" sz="2000" dirty="0"/>
              <a:t>—feeding those scores straight into your </a:t>
            </a:r>
            <a:r>
              <a:rPr lang="en-US" sz="2000" b="1" dirty="0">
                <a:solidFill>
                  <a:srgbClr val="FF0000"/>
                </a:solidFill>
              </a:rPr>
              <a:t>CDP, CRM, and campaign tools </a:t>
            </a:r>
            <a:r>
              <a:rPr lang="en-US" sz="2000" dirty="0"/>
              <a:t>so marketing can act on them in real time.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**Stage 1:** Historical data flows in → **Stage 2:** ML models learn patterns → **Stage 3:** Predictions are generated → **Stage 4:** </a:t>
            </a:r>
            <a:r>
              <a:rPr lang="en-US" sz="2000" b="1" dirty="0" err="1">
                <a:solidFill>
                  <a:srgbClr val="FF0000"/>
                </a:solidFill>
              </a:rPr>
              <a:t>MarTech</a:t>
            </a:r>
            <a:r>
              <a:rPr lang="en-US" sz="2000" b="1" dirty="0">
                <a:solidFill>
                  <a:srgbClr val="FF0000"/>
                </a:solidFill>
              </a:rPr>
              <a:t> activates those predictions</a:t>
            </a:r>
          </a:p>
          <a:p>
            <a:endParaRPr lang="en-US" sz="2000" dirty="0"/>
          </a:p>
          <a:p>
            <a:r>
              <a:rPr lang="en-US" sz="2000" dirty="0"/>
              <a:t>This unlocks dynamic, always-updating segments and journeys across the </a:t>
            </a:r>
            <a:r>
              <a:rPr lang="en-US" sz="2000" b="1" dirty="0">
                <a:solidFill>
                  <a:srgbClr val="FF0000"/>
                </a:solidFill>
              </a:rPr>
              <a:t>whole lifecycle (acquisition, growth, retention)</a:t>
            </a:r>
            <a:r>
              <a:rPr lang="en-US" sz="2000" dirty="0"/>
              <a:t>, and it’s why the predictive analytics market is expected to more than </a:t>
            </a:r>
            <a:r>
              <a:rPr lang="en-US" sz="2000" b="1" dirty="0">
                <a:solidFill>
                  <a:srgbClr val="FF0000"/>
                </a:solidFill>
              </a:rPr>
              <a:t>double from about $17B in 2024 to over $41B in 2028</a:t>
            </a:r>
            <a:r>
              <a:rPr lang="en-US" sz="2000" dirty="0"/>
              <a:t>, with 42% of companies saying AI/ML has beaten profitability expectations. Under the hood, it’s </a:t>
            </a:r>
            <a:r>
              <a:rPr lang="en-US" sz="2000" b="1" dirty="0">
                <a:solidFill>
                  <a:srgbClr val="FF0000"/>
                </a:solidFill>
              </a:rPr>
              <a:t>still the data engineer who makes this possible</a:t>
            </a:r>
            <a:r>
              <a:rPr lang="en-US" sz="2000" dirty="0"/>
              <a:t>, because without solid pipelines and access to unified profiles, all those clever models and </a:t>
            </a:r>
            <a:r>
              <a:rPr lang="en-US" sz="2000" dirty="0" err="1"/>
              <a:t>MarTech</a:t>
            </a:r>
            <a:r>
              <a:rPr lang="en-US" sz="2000" dirty="0"/>
              <a:t> flows have nothing reliable to learn from or activate.</a:t>
            </a:r>
          </a:p>
        </p:txBody>
      </p:sp>
    </p:spTree>
    <p:extLst>
      <p:ext uri="{BB962C8B-B14F-4D97-AF65-F5344CB8AC3E}">
        <p14:creationId xmlns:p14="http://schemas.microsoft.com/office/powerpoint/2010/main" val="172710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E88B2-F600-D1C3-878D-E8F54DA40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EA3D5-3443-80D4-E199-463D55E2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S2-2: Many companies are hesitant about using AI ethically. What are the key governance and fairness checks that Data Science teams must implement when building models that influence customer decisions?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E7778-4753-DD60-C618-BC7B8F2D4862}"/>
              </a:ext>
            </a:extLst>
          </p:cNvPr>
          <p:cNvSpPr txBox="1"/>
          <p:nvPr/>
        </p:nvSpPr>
        <p:spPr>
          <a:xfrm>
            <a:off x="779813" y="1935678"/>
            <a:ext cx="1124989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is perhaps the most important question for building sustainable, trustworthy AI in marketing. When we use AI to influence customer decisions, the bar isn’t just “</a:t>
            </a:r>
            <a:r>
              <a:rPr lang="en-US" sz="2000" b="1" dirty="0">
                <a:solidFill>
                  <a:srgbClr val="FF0000"/>
                </a:solidFill>
              </a:rPr>
              <a:t>does it work</a:t>
            </a:r>
            <a:r>
              <a:rPr lang="en-US" sz="2000" dirty="0"/>
              <a:t>?” but “</a:t>
            </a:r>
            <a:r>
              <a:rPr lang="en-US" sz="2000" b="1" dirty="0">
                <a:solidFill>
                  <a:srgbClr val="FF0000"/>
                </a:solidFill>
              </a:rPr>
              <a:t>is it fair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FF0000"/>
                </a:solidFill>
              </a:rPr>
              <a:t>explainable, and accountable</a:t>
            </a:r>
            <a:r>
              <a:rPr lang="en-US" sz="2000" dirty="0"/>
              <a:t>?”—which is why data science teams need a governance checklist: audit data and models for bias, use fairness metrics (like disparate impact), add explainability (SHAP/LIME), keep humans in the loop, monitor models continuously, and document who is responsible for what.</a:t>
            </a:r>
          </a:p>
          <a:p>
            <a:endParaRPr lang="en-US" sz="2000" dirty="0"/>
          </a:p>
          <a:p>
            <a:r>
              <a:rPr lang="en-US" sz="2000" dirty="0"/>
              <a:t>Tools such as </a:t>
            </a:r>
            <a:r>
              <a:rPr lang="en-US" sz="2000" b="1" dirty="0">
                <a:solidFill>
                  <a:srgbClr val="FF0000"/>
                </a:solidFill>
              </a:rPr>
              <a:t>AI Fairness 360</a:t>
            </a:r>
            <a:r>
              <a:rPr lang="en-US" sz="2000" dirty="0"/>
              <a:t>, </a:t>
            </a:r>
            <a:r>
              <a:rPr lang="en-US" sz="2000" b="1" dirty="0" err="1">
                <a:solidFill>
                  <a:srgbClr val="FF0000"/>
                </a:solidFill>
              </a:rPr>
              <a:t>Fairlearn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FF0000"/>
                </a:solidFill>
              </a:rPr>
              <a:t>Aequitas</a:t>
            </a:r>
            <a:r>
              <a:rPr lang="en-US" sz="2000" dirty="0"/>
              <a:t>, and </a:t>
            </a:r>
            <a:r>
              <a:rPr lang="en-US" sz="2000" b="1" dirty="0" err="1">
                <a:solidFill>
                  <a:srgbClr val="FF0000"/>
                </a:solidFill>
              </a:rPr>
              <a:t>Sagemaker</a:t>
            </a:r>
            <a:r>
              <a:rPr lang="en-US" sz="2000" b="1" dirty="0">
                <a:solidFill>
                  <a:srgbClr val="FF0000"/>
                </a:solidFill>
              </a:rPr>
              <a:t> Clarify</a:t>
            </a:r>
            <a:r>
              <a:rPr lang="en-US" sz="2000" dirty="0"/>
              <a:t>, combined with emerging regulation (GDPR, CCPA, the EU AI Act), mean that doing this well is not only a legal necessity but a competitive advantage, because brands that can prove their AI is fair and transparent will be the ones customers trust.</a:t>
            </a:r>
          </a:p>
        </p:txBody>
      </p:sp>
    </p:spTree>
    <p:extLst>
      <p:ext uri="{BB962C8B-B14F-4D97-AF65-F5344CB8AC3E}">
        <p14:creationId xmlns:p14="http://schemas.microsoft.com/office/powerpoint/2010/main" val="1918271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0EEE1-7C44-DA27-5AFE-BBCFFCA37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CDC4-BFFE-F701-9118-9F8F2AA90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S2-3: When integrating third-party tools (like payment gateways or ad platforms), what are the critical technical considerations to ensure a secure, private, and seamless handoff of customer data that doesn't feel disjointed?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C0F57E-AA60-DE98-580C-80A4B4915E6F}"/>
              </a:ext>
            </a:extLst>
          </p:cNvPr>
          <p:cNvSpPr txBox="1"/>
          <p:nvPr/>
        </p:nvSpPr>
        <p:spPr>
          <a:xfrm>
            <a:off x="779813" y="1935678"/>
            <a:ext cx="1124989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is a crucial operational question that sits at the intersection of security, compliance, and customer experience. When you integrate third-party tools, the goal is to make them feel like an </a:t>
            </a:r>
            <a:r>
              <a:rPr lang="en-US" sz="2000" b="1" dirty="0">
                <a:solidFill>
                  <a:srgbClr val="FF0000"/>
                </a:solidFill>
              </a:rPr>
              <a:t>extension of your brand </a:t>
            </a:r>
            <a:r>
              <a:rPr lang="en-US" sz="2000" dirty="0"/>
              <a:t>while </a:t>
            </a:r>
            <a:r>
              <a:rPr lang="en-US" sz="2000" b="1" dirty="0">
                <a:solidFill>
                  <a:srgbClr val="FF0000"/>
                </a:solidFill>
              </a:rPr>
              <a:t>locking down security and privacy</a:t>
            </a:r>
            <a:r>
              <a:rPr lang="en-US" sz="2000" dirty="0"/>
              <a:t>: use modern auth (OAuth 2.0 with short-lived tokens), full TLS encryption, least-privilege access, and rigorous vendor due-diligence and monitoring—a shift that can cut API-related security incidents by a third and dramatically reduce man-in-the-middle attacks.</a:t>
            </a:r>
          </a:p>
          <a:p>
            <a:endParaRPr lang="en-US" sz="2000" dirty="0"/>
          </a:p>
          <a:p>
            <a:r>
              <a:rPr lang="en-US" sz="2000" dirty="0"/>
              <a:t>You then layer on privacy by design with consent management via your CDP, data minimization, server-side data routing, and automated handling of data-subject rights, so only compliant, consented data ever leaves your core. </a:t>
            </a:r>
          </a:p>
          <a:p>
            <a:endParaRPr lang="en-US" sz="2000" dirty="0"/>
          </a:p>
          <a:p>
            <a:r>
              <a:rPr lang="en-US" sz="2000" dirty="0"/>
              <a:t>Finally, you obsess over the experience: avoid jarring redirects (especially in payments), simplify checkout, offer local payment options, maintain consistent branding across hand-offs, and monitor transaction performance in real time so customers experience a seamless journey rather than a patchwork of disconnected tools. </a:t>
            </a:r>
          </a:p>
        </p:txBody>
      </p:sp>
    </p:spTree>
    <p:extLst>
      <p:ext uri="{BB962C8B-B14F-4D97-AF65-F5344CB8AC3E}">
        <p14:creationId xmlns:p14="http://schemas.microsoft.com/office/powerpoint/2010/main" val="3215845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D77D6-102D-B6F9-4233-1F87756A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6A1D5-F663-646E-C7BD-9C3B9AB3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S2-4: What are the most exciting AI applications transforming marketing right now?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8ADEB-BF6F-1A15-0EC2-F4D35A39628C}"/>
              </a:ext>
            </a:extLst>
          </p:cNvPr>
          <p:cNvSpPr txBox="1"/>
          <p:nvPr/>
        </p:nvSpPr>
        <p:spPr>
          <a:xfrm>
            <a:off x="779813" y="1935678"/>
            <a:ext cx="1124989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is a great question. Right now, the most exciting AI in marketing is moving from simple automation to **</a:t>
            </a:r>
            <a:r>
              <a:rPr lang="en-US" sz="2000" b="1" dirty="0">
                <a:solidFill>
                  <a:srgbClr val="FF0000"/>
                </a:solidFill>
              </a:rPr>
              <a:t>agentic AI </a:t>
            </a:r>
            <a:r>
              <a:rPr lang="en-US" sz="2000" dirty="0"/>
              <a:t>“teammates”** that can </a:t>
            </a:r>
            <a:r>
              <a:rPr lang="en-US" sz="2000" b="1" dirty="0">
                <a:solidFill>
                  <a:srgbClr val="FF0000"/>
                </a:solidFill>
              </a:rPr>
              <a:t>plan, run, and optimize campaigns </a:t>
            </a:r>
            <a:r>
              <a:rPr lang="en-US" sz="2000" dirty="0"/>
              <a:t>in real time—think Salesforce’s agentic marketing cloud compressing campaign setup from weeks to hours, and AI agents dynamically choosing content, timing, and channels for each individual customer. </a:t>
            </a:r>
          </a:p>
          <a:p>
            <a:endParaRPr lang="en-US" sz="2000" dirty="0"/>
          </a:p>
          <a:p>
            <a:r>
              <a:rPr lang="en-US" sz="2000" dirty="0"/>
              <a:t>On top of that, AI is powering hyper-personalization, recommendations, AR try-ons, conversational AI, and predictive analytics that *actually move the needle*—</a:t>
            </a:r>
            <a:r>
              <a:rPr lang="en-US" sz="2000" b="1" dirty="0">
                <a:solidFill>
                  <a:srgbClr val="FF0000"/>
                </a:solidFill>
              </a:rPr>
              <a:t>Netflix drives over 80% of viewing via recommendations</a:t>
            </a:r>
            <a:r>
              <a:rPr lang="en-US" sz="2000" dirty="0"/>
              <a:t>, brands like </a:t>
            </a:r>
            <a:r>
              <a:rPr lang="en-US" sz="2000" dirty="0" err="1"/>
              <a:t>Cosabella</a:t>
            </a:r>
            <a:r>
              <a:rPr lang="en-US" sz="2000" dirty="0"/>
              <a:t> have seen 40–60% sales uplifts without extra discounts, and companies using GenAI in marketing report 5–10% revenue growth, with the </a:t>
            </a:r>
            <a:r>
              <a:rPr lang="en-US" sz="2000" b="1" dirty="0">
                <a:solidFill>
                  <a:srgbClr val="FF0000"/>
                </a:solidFill>
              </a:rPr>
              <a:t>AI-in-marketing market</a:t>
            </a:r>
            <a:r>
              <a:rPr lang="en-US" sz="2000" dirty="0"/>
              <a:t> forecast to jump from about </a:t>
            </a:r>
            <a:r>
              <a:rPr lang="en-US" sz="2000" b="1" dirty="0">
                <a:solidFill>
                  <a:srgbClr val="FF0000"/>
                </a:solidFill>
              </a:rPr>
              <a:t>**$28.7B in 2025 to nearly $100B by 2031</a:t>
            </a:r>
            <a:r>
              <a:rPr lang="en-US" sz="2000" dirty="0"/>
              <a:t>**. </a:t>
            </a:r>
          </a:p>
          <a:p>
            <a:endParaRPr lang="en-US" sz="2000" dirty="0"/>
          </a:p>
          <a:p>
            <a:r>
              <a:rPr lang="en-US" sz="2000" dirty="0"/>
              <a:t>The big message for the audience: AI isn’t just making marketers faster; it’s fundamentally changing the operating model—from static campaigns to always-on, AI-driven experiences—*</a:t>
            </a:r>
            <a:r>
              <a:rPr lang="en-US" sz="2000" b="1" i="1" dirty="0">
                <a:solidFill>
                  <a:srgbClr val="FF0000"/>
                </a:solidFill>
              </a:rPr>
              <a:t>as long as we pair it with human creativity and strong ethical guardrails</a:t>
            </a:r>
            <a:r>
              <a:rPr lang="en-US" sz="2000" dirty="0"/>
              <a:t>*. </a:t>
            </a:r>
          </a:p>
        </p:txBody>
      </p:sp>
    </p:spTree>
    <p:extLst>
      <p:ext uri="{BB962C8B-B14F-4D97-AF65-F5344CB8AC3E}">
        <p14:creationId xmlns:p14="http://schemas.microsoft.com/office/powerpoint/2010/main" val="3040862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B9E32-C799-5C89-84C3-87EBCB612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92117-06F9-0F0D-C239-21CBDF391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S3-1: Many </a:t>
            </a:r>
            <a:r>
              <a:rPr lang="en-US" sz="2400" dirty="0" err="1"/>
              <a:t>organisations</a:t>
            </a:r>
            <a:r>
              <a:rPr lang="en-US" sz="2400" dirty="0"/>
              <a:t> struggle not with data collection, but with data quality. What role does data engineering play in fixing this?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B24480-F9E4-3A8C-1511-848F213DF7DD}"/>
              </a:ext>
            </a:extLst>
          </p:cNvPr>
          <p:cNvSpPr txBox="1"/>
          <p:nvPr/>
        </p:nvSpPr>
        <p:spPr>
          <a:xfrm>
            <a:off x="779813" y="1935678"/>
            <a:ext cx="1124989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is exactly the right question—and it's where so many AI and personalization initiatives fail. In most </a:t>
            </a:r>
            <a:r>
              <a:rPr lang="en-US" sz="2000" dirty="0" err="1"/>
              <a:t>organisations</a:t>
            </a:r>
            <a:r>
              <a:rPr lang="en-US" sz="2000" dirty="0"/>
              <a:t>, the problem isn’t collecting data, it’s that </a:t>
            </a:r>
            <a:r>
              <a:rPr lang="en-US" sz="2000" b="1" dirty="0">
                <a:solidFill>
                  <a:srgbClr val="FF0000"/>
                </a:solidFill>
              </a:rPr>
              <a:t>bad data has been </a:t>
            </a:r>
            <a:r>
              <a:rPr lang="en-US" sz="2000" b="1" dirty="0" err="1">
                <a:solidFill>
                  <a:srgbClr val="FF0000"/>
                </a:solidFill>
              </a:rPr>
              <a:t>normalised</a:t>
            </a:r>
            <a:r>
              <a:rPr lang="en-US" sz="2000" dirty="0"/>
              <a:t>—costing on average </a:t>
            </a:r>
            <a:r>
              <a:rPr lang="en-US" sz="2000" b="1" dirty="0">
                <a:solidFill>
                  <a:srgbClr val="FF0000"/>
                </a:solidFill>
              </a:rPr>
              <a:t>**$12.9M a year per company</a:t>
            </a:r>
            <a:r>
              <a:rPr lang="en-US" sz="2000" dirty="0"/>
              <a:t>**, wasting about **</a:t>
            </a:r>
            <a:r>
              <a:rPr lang="en-US" sz="2000" b="1" dirty="0">
                <a:solidFill>
                  <a:srgbClr val="FF0000"/>
                </a:solidFill>
              </a:rPr>
              <a:t>21% of media spend</a:t>
            </a:r>
            <a:r>
              <a:rPr lang="en-US" sz="2000" dirty="0"/>
              <a:t>**, and forcing data teams to spend **</a:t>
            </a:r>
            <a:r>
              <a:rPr lang="en-US" sz="2000" b="1" dirty="0">
                <a:solidFill>
                  <a:srgbClr val="FF0000"/>
                </a:solidFill>
              </a:rPr>
              <a:t>60% of their time just cleaning up mess</a:t>
            </a:r>
            <a:r>
              <a:rPr lang="en-US" sz="2000" dirty="0"/>
              <a:t>** instead of creating value.</a:t>
            </a:r>
          </a:p>
          <a:p>
            <a:endParaRPr lang="en-US" sz="2000" dirty="0"/>
          </a:p>
          <a:p>
            <a:r>
              <a:rPr lang="en-US" sz="2000" dirty="0"/>
              <a:t>Data engineering fixes this by </a:t>
            </a:r>
            <a:r>
              <a:rPr lang="en-US" sz="2000" b="1" dirty="0">
                <a:solidFill>
                  <a:srgbClr val="FF0000"/>
                </a:solidFill>
              </a:rPr>
              <a:t>baking quality into the pipeline</a:t>
            </a:r>
            <a:r>
              <a:rPr lang="en-US" sz="2000" dirty="0"/>
              <a:t>: early validation (the 1:10:100 rule), automated cleansing and </a:t>
            </a:r>
            <a:r>
              <a:rPr lang="en-US" sz="2000" dirty="0" err="1"/>
              <a:t>standardisation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FF0000"/>
                </a:solidFill>
              </a:rPr>
              <a:t>real-time monitoring and anomaly detection</a:t>
            </a:r>
            <a:r>
              <a:rPr lang="en-US" sz="2000" dirty="0"/>
              <a:t>, self-healing pipelines, and increasingly AI-powered data quality tools that spot and correct issues at scale.  </a:t>
            </a:r>
          </a:p>
          <a:p>
            <a:endParaRPr lang="en-US" sz="2000" dirty="0"/>
          </a:p>
          <a:p>
            <a:r>
              <a:rPr lang="en-US" sz="2000" dirty="0"/>
              <a:t>In short, data engineers become the </a:t>
            </a:r>
            <a:r>
              <a:rPr lang="en-US" sz="2000" b="1" dirty="0">
                <a:solidFill>
                  <a:srgbClr val="FF0000"/>
                </a:solidFill>
              </a:rPr>
              <a:t>quality gatekeepers</a:t>
            </a:r>
            <a:r>
              <a:rPr lang="en-US" sz="2000" dirty="0"/>
              <a:t>—turning data quality from a reactive firefight into a continuous, automated process so every AI model, personalization engine, and dashboard runs on solid ground instead of sand. </a:t>
            </a:r>
          </a:p>
        </p:txBody>
      </p:sp>
    </p:spTree>
    <p:extLst>
      <p:ext uri="{BB962C8B-B14F-4D97-AF65-F5344CB8AC3E}">
        <p14:creationId xmlns:p14="http://schemas.microsoft.com/office/powerpoint/2010/main" val="4166333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00F25-79B5-7308-2B7C-CAF4F742C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659E0-5625-AAD6-6F08-33FE9F2BD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S3-2: What does a strong data foundation look like for companies wanting to deliver advanced personalization?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BD1C6D-77E4-119D-0101-78BF9CD2852C}"/>
              </a:ext>
            </a:extLst>
          </p:cNvPr>
          <p:cNvSpPr txBox="1"/>
          <p:nvPr/>
        </p:nvSpPr>
        <p:spPr>
          <a:xfrm>
            <a:off x="779813" y="1935678"/>
            <a:ext cx="112498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strong data foundation for advanced personalization is built on a </a:t>
            </a:r>
            <a:r>
              <a:rPr lang="en-US" sz="2000" b="1" dirty="0">
                <a:solidFill>
                  <a:srgbClr val="FF0000"/>
                </a:solidFill>
              </a:rPr>
              <a:t>unified cloud data architecture </a:t>
            </a:r>
            <a:r>
              <a:rPr lang="en-US" sz="2000" dirty="0"/>
              <a:t>plus a CDP that stitches together all customer touchpoints into real-time, AI-ready 360° profiles—breaking silos and becoming the single source of truth for marketing, product, and CX. </a:t>
            </a:r>
          </a:p>
          <a:p>
            <a:endParaRPr lang="en-US" sz="2000" dirty="0"/>
          </a:p>
          <a:p>
            <a:r>
              <a:rPr lang="en-US" sz="2000" dirty="0"/>
              <a:t>It combines first-party data strategy, tight data quality and governance (in a world where ~45% of CRM data is inaccurate), real-time streaming, robust APIs/reverse ETL, and privacy-by-design so brands can safely activate insights everywhere. The leaders are the ones who move from </a:t>
            </a:r>
            <a:r>
              <a:rPr lang="en-US" sz="2000" b="1" dirty="0">
                <a:solidFill>
                  <a:srgbClr val="FF0000"/>
                </a:solidFill>
              </a:rPr>
              <a:t>static, batch data </a:t>
            </a:r>
            <a:r>
              <a:rPr lang="en-US" sz="2000" dirty="0"/>
              <a:t>to </a:t>
            </a:r>
            <a:r>
              <a:rPr lang="en-US" sz="2000" b="1" dirty="0">
                <a:solidFill>
                  <a:srgbClr val="FF0000"/>
                </a:solidFill>
              </a:rPr>
              <a:t>continuously verified, streaming data operations </a:t>
            </a:r>
            <a:r>
              <a:rPr lang="en-US" sz="2000" dirty="0"/>
              <a:t>that their AI and </a:t>
            </a:r>
            <a:r>
              <a:rPr lang="en-US" sz="2000" dirty="0" err="1"/>
              <a:t>MarTech</a:t>
            </a:r>
            <a:r>
              <a:rPr lang="en-US" sz="2000" dirty="0"/>
              <a:t> can trust. </a:t>
            </a:r>
          </a:p>
        </p:txBody>
      </p:sp>
    </p:spTree>
    <p:extLst>
      <p:ext uri="{BB962C8B-B14F-4D97-AF65-F5344CB8AC3E}">
        <p14:creationId xmlns:p14="http://schemas.microsoft.com/office/powerpoint/2010/main" val="2590484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892-C087-DF75-EC3E-5496525C7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70E4-46AF-685A-3ED6-967BD8376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S3-3: How should businesses think about integrating data from multiple platforms into one coherent customer view?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80B5DF-61BA-9882-E71D-DC4EC1F936F3}"/>
              </a:ext>
            </a:extLst>
          </p:cNvPr>
          <p:cNvSpPr txBox="1"/>
          <p:nvPr/>
        </p:nvSpPr>
        <p:spPr>
          <a:xfrm>
            <a:off x="779813" y="1935678"/>
            <a:ext cx="1124989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 get to a coherent customer view, you don’t start with tools, you </a:t>
            </a:r>
            <a:r>
              <a:rPr lang="en-US" sz="2000" b="1" dirty="0">
                <a:solidFill>
                  <a:srgbClr val="FF0000"/>
                </a:solidFill>
              </a:rPr>
              <a:t>start with strategy</a:t>
            </a:r>
            <a:r>
              <a:rPr lang="en-US" sz="2000" dirty="0"/>
              <a:t>: decide the </a:t>
            </a:r>
            <a:r>
              <a:rPr lang="en-US" sz="2000" b="1" dirty="0">
                <a:solidFill>
                  <a:srgbClr val="FF0000"/>
                </a:solidFill>
              </a:rPr>
              <a:t>outcomes you want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FF0000"/>
                </a:solidFill>
              </a:rPr>
              <a:t>break down data silos </a:t>
            </a:r>
            <a:r>
              <a:rPr lang="en-US" sz="2000" dirty="0"/>
              <a:t>(which 68% of orgs now cite as their top concern), and </a:t>
            </a:r>
            <a:r>
              <a:rPr lang="en-US" sz="2000" b="1" dirty="0">
                <a:solidFill>
                  <a:srgbClr val="FF0000"/>
                </a:solidFill>
              </a:rPr>
              <a:t>invest in identity resolution </a:t>
            </a:r>
            <a:r>
              <a:rPr lang="en-US" sz="2000" dirty="0"/>
              <a:t>that blends deterministic and probabilistic matching so you can confidently stitch </a:t>
            </a:r>
            <a:r>
              <a:rPr lang="en-US" sz="2000" dirty="0" err="1"/>
              <a:t>behaviour</a:t>
            </a:r>
            <a:r>
              <a:rPr lang="en-US" sz="2000" dirty="0"/>
              <a:t> across channels. </a:t>
            </a:r>
          </a:p>
          <a:p>
            <a:endParaRPr lang="en-US" sz="2000" dirty="0"/>
          </a:p>
          <a:p>
            <a:r>
              <a:rPr lang="en-US" sz="2000" dirty="0"/>
              <a:t>Then you build the </a:t>
            </a:r>
            <a:r>
              <a:rPr lang="en-US" sz="2000" b="1" dirty="0">
                <a:solidFill>
                  <a:srgbClr val="FF0000"/>
                </a:solidFill>
              </a:rPr>
              <a:t>right architecture </a:t>
            </a:r>
            <a:r>
              <a:rPr lang="en-US" sz="2000" dirty="0"/>
              <a:t>for you—integrated, composable, or hybrid CDP—around five pillars: </a:t>
            </a:r>
            <a:r>
              <a:rPr lang="en-US" sz="2000" b="1" dirty="0">
                <a:solidFill>
                  <a:srgbClr val="FF0000"/>
                </a:solidFill>
              </a:rPr>
              <a:t>robust integrations, an identity engine, a unified customer database, strong governance, and activation/analytics, following a phased roadmap that can show value in as little as 6–8 weeks. 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dirty="0"/>
              <a:t>The payoff is real: </a:t>
            </a:r>
            <a:r>
              <a:rPr lang="en-US" sz="2000" b="1" dirty="0">
                <a:solidFill>
                  <a:srgbClr val="FF0000"/>
                </a:solidFill>
              </a:rPr>
              <a:t>unified data can drive up to 8.9% more sales and 30–50% efficiency gains</a:t>
            </a:r>
            <a:r>
              <a:rPr lang="en-US" sz="2000" dirty="0"/>
              <a:t>, and it’s the difference between being one of the 34% of companies that actually deliver seamless omnichannel experiences and the rest who only talk about it.</a:t>
            </a:r>
          </a:p>
        </p:txBody>
      </p:sp>
    </p:spTree>
    <p:extLst>
      <p:ext uri="{BB962C8B-B14F-4D97-AF65-F5344CB8AC3E}">
        <p14:creationId xmlns:p14="http://schemas.microsoft.com/office/powerpoint/2010/main" val="3367811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7E3B0-74AC-6F8B-A1F0-DB265B3F2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FC5B9-F8B1-CFFF-7A1E-955B115A3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S4-1: With all this technology, how can businesses avoid becoming overly dependent on tools and losing strategic direction?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0DE8D-0CE4-3030-D9CB-82F9E9DC538B}"/>
              </a:ext>
            </a:extLst>
          </p:cNvPr>
          <p:cNvSpPr txBox="1"/>
          <p:nvPr/>
        </p:nvSpPr>
        <p:spPr>
          <a:xfrm>
            <a:off x="779813" y="1935678"/>
            <a:ext cx="112498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way to avoid being ruled by </a:t>
            </a:r>
            <a:r>
              <a:rPr lang="en-US" sz="2000" dirty="0" err="1"/>
              <a:t>MarTech</a:t>
            </a:r>
            <a:r>
              <a:rPr lang="en-US" sz="2000" dirty="0"/>
              <a:t> is to make **</a:t>
            </a:r>
            <a:r>
              <a:rPr lang="en-US" sz="2000" b="1" dirty="0">
                <a:solidFill>
                  <a:srgbClr val="FF0000"/>
                </a:solidFill>
              </a:rPr>
              <a:t>strategy, not tools, the boss</a:t>
            </a:r>
            <a:r>
              <a:rPr lang="en-US" sz="2000" dirty="0"/>
              <a:t>**: start from </a:t>
            </a:r>
            <a:r>
              <a:rPr lang="en-US" sz="2000" b="1" dirty="0">
                <a:solidFill>
                  <a:srgbClr val="FF0000"/>
                </a:solidFill>
              </a:rPr>
              <a:t>business outcomes</a:t>
            </a:r>
            <a:r>
              <a:rPr lang="en-US" sz="2000" dirty="0"/>
              <a:t>, then pick only the tech that clearly serves those goals, with strong governance, ownership, and regular stack audits that can claw back 15–30% in wasted spend from bloated “</a:t>
            </a:r>
            <a:r>
              <a:rPr lang="en-US" sz="2000" dirty="0" err="1"/>
              <a:t>Frankenstacks</a:t>
            </a:r>
            <a:r>
              <a:rPr lang="en-US" sz="2000" dirty="0"/>
              <a:t>” where utilization is often just a third of what’s paid for. </a:t>
            </a:r>
          </a:p>
          <a:p>
            <a:endParaRPr lang="en-US" sz="2000" dirty="0"/>
          </a:p>
          <a:p>
            <a:r>
              <a:rPr lang="en-US" sz="2000" dirty="0"/>
              <a:t>You then protect your real differentiator—**</a:t>
            </a:r>
            <a:r>
              <a:rPr lang="en-US" sz="2000" b="1" dirty="0">
                <a:solidFill>
                  <a:srgbClr val="FF0000"/>
                </a:solidFill>
              </a:rPr>
              <a:t>human creativity, judgment, and authenticity</a:t>
            </a:r>
            <a:r>
              <a:rPr lang="en-US" sz="2000" dirty="0"/>
              <a:t>**—by </a:t>
            </a:r>
            <a:r>
              <a:rPr lang="en-US" sz="2000" b="1" dirty="0">
                <a:solidFill>
                  <a:srgbClr val="FF0000"/>
                </a:solidFill>
              </a:rPr>
              <a:t>using AI to handle scale and grunt work </a:t>
            </a:r>
            <a:r>
              <a:rPr lang="en-US" sz="2000" dirty="0"/>
              <a:t>while people define the story, ethics, and emotional tone in a world where 86% of consumers say authenticity matters and 81% say trust drives buying decisions.</a:t>
            </a:r>
          </a:p>
          <a:p>
            <a:endParaRPr lang="en-US" sz="2000" dirty="0"/>
          </a:p>
          <a:p>
            <a:r>
              <a:rPr lang="en-US" sz="2000" dirty="0"/>
              <a:t>In practice, that means a 90-day reset mindset: audit and </a:t>
            </a:r>
            <a:r>
              <a:rPr lang="en-US" sz="2000" dirty="0" err="1"/>
              <a:t>rationalise</a:t>
            </a:r>
            <a:r>
              <a:rPr lang="en-US" sz="2000" dirty="0"/>
              <a:t> the stack, consolidate where possible, upskill “position-less” marketers who blend strategy and tech, and build a culture where technology is a disciplined servant to customer experience, not the master. </a:t>
            </a:r>
          </a:p>
        </p:txBody>
      </p:sp>
    </p:spTree>
    <p:extLst>
      <p:ext uri="{BB962C8B-B14F-4D97-AF65-F5344CB8AC3E}">
        <p14:creationId xmlns:p14="http://schemas.microsoft.com/office/powerpoint/2010/main" val="1500273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C9F95-F79B-34D1-2948-478B607AB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F3D5-8620-2A5F-A1C8-86116CFB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S4-2: What ethical or privacy concerns should companies </a:t>
            </a:r>
            <a:r>
              <a:rPr lang="en-US" sz="2400" dirty="0" err="1"/>
              <a:t>prioritise</a:t>
            </a:r>
            <a:r>
              <a:rPr lang="en-US" sz="2400" dirty="0"/>
              <a:t> as AI becomes more embedded in CX?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5BFAB-BF7C-BF60-49F2-AAF276EEACB7}"/>
              </a:ext>
            </a:extLst>
          </p:cNvPr>
          <p:cNvSpPr txBox="1"/>
          <p:nvPr/>
        </p:nvSpPr>
        <p:spPr>
          <a:xfrm>
            <a:off x="779813" y="1935678"/>
            <a:ext cx="112498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is one of the most critical questions today. As AI becomes woven into CX, the big risk isn’t the tech itself but **</a:t>
            </a:r>
            <a:r>
              <a:rPr lang="en-US" sz="2000" b="1" dirty="0">
                <a:solidFill>
                  <a:srgbClr val="FF0000"/>
                </a:solidFill>
              </a:rPr>
              <a:t>eroding trust</a:t>
            </a:r>
            <a:r>
              <a:rPr lang="en-US" sz="2000" dirty="0"/>
              <a:t>**—customers want personalization, yet 70–80% are uneasy about how their data is collected and used, and 90% worry about AI and data security.</a:t>
            </a:r>
          </a:p>
          <a:p>
            <a:endParaRPr lang="en-US" sz="2000" dirty="0"/>
          </a:p>
          <a:p>
            <a:r>
              <a:rPr lang="en-US" sz="2000" dirty="0"/>
              <a:t>The non-negotiables to get right are: **</a:t>
            </a:r>
            <a:r>
              <a:rPr lang="en-US" sz="2000" b="1" dirty="0">
                <a:solidFill>
                  <a:srgbClr val="FF0000"/>
                </a:solidFill>
              </a:rPr>
              <a:t>privacy and consent by design, rigorous bias testing, clear transparency and AI labelling, human oversight and escalation, explainability for automated decisions, and proactive compliance with fast-evolving laws like GDPR, CCPA and the EU AI Act</a:t>
            </a:r>
            <a:r>
              <a:rPr lang="en-US" sz="2000" dirty="0"/>
              <a:t>.**</a:t>
            </a:r>
          </a:p>
          <a:p>
            <a:endParaRPr lang="en-US" sz="2000" dirty="0"/>
          </a:p>
          <a:p>
            <a:r>
              <a:rPr lang="en-US" sz="2000" dirty="0"/>
              <a:t>If I had to boil it down for leaders, I’d say: treat ethics as a </a:t>
            </a:r>
            <a:r>
              <a:rPr lang="en-US" sz="2000" b="1" dirty="0">
                <a:solidFill>
                  <a:srgbClr val="FF0000"/>
                </a:solidFill>
              </a:rPr>
              <a:t>product feature with KPIs</a:t>
            </a:r>
            <a:r>
              <a:rPr lang="en-US" sz="2000" dirty="0"/>
              <a:t>, not a slide in a policy deck—because in the next five years, ethical AI will be one of the biggest competitive advantages in customer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488430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EC2DB-D573-6508-69D0-33C3051B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5DEB-75CF-247E-AA84-09AD2167D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S4-3: What skills will future marketing and CX teams need to thrive in a tech-driven environment?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C8BAC8-9032-FBB9-0C3F-14997C290253}"/>
              </a:ext>
            </a:extLst>
          </p:cNvPr>
          <p:cNvSpPr txBox="1"/>
          <p:nvPr/>
        </p:nvSpPr>
        <p:spPr>
          <a:xfrm>
            <a:off x="779813" y="1935678"/>
            <a:ext cx="1124989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another crucial question. Future marketing and CX teams need to become **</a:t>
            </a:r>
            <a:r>
              <a:rPr lang="en-US" sz="2000" b="1" dirty="0">
                <a:solidFill>
                  <a:srgbClr val="FF0000"/>
                </a:solidFill>
              </a:rPr>
              <a:t>hybrid thinkers</a:t>
            </a:r>
            <a:r>
              <a:rPr lang="en-US" sz="2000" dirty="0"/>
              <a:t>**—combining </a:t>
            </a:r>
            <a:r>
              <a:rPr lang="en-US" sz="2000" b="1" dirty="0">
                <a:solidFill>
                  <a:srgbClr val="FF0000"/>
                </a:solidFill>
              </a:rPr>
              <a:t>AI and data fluency </a:t>
            </a:r>
            <a:r>
              <a:rPr lang="en-US" sz="2000" dirty="0"/>
              <a:t>(AI literacy, prompt engineering, analytics, tool proficiency) with deeply human strengths like </a:t>
            </a:r>
            <a:r>
              <a:rPr lang="en-US" sz="2000" b="1" dirty="0">
                <a:solidFill>
                  <a:srgbClr val="FF0000"/>
                </a:solidFill>
              </a:rPr>
              <a:t>strategic thinking, creativity, critical thinking, empathy, adaptability, and ethical judgment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r>
              <a:rPr lang="en-US" sz="2000" dirty="0"/>
              <a:t>We’re already in a reskilling moment: the World Economic Forum notes that up to **</a:t>
            </a:r>
            <a:r>
              <a:rPr lang="en-US" sz="2000" b="1" dirty="0">
                <a:solidFill>
                  <a:srgbClr val="FF0000"/>
                </a:solidFill>
              </a:rPr>
              <a:t>50% of employees need reskilling by 2025</a:t>
            </a:r>
            <a:r>
              <a:rPr lang="en-US" sz="2000" dirty="0"/>
              <a:t>**, 77% of employers see upskilling as critical, and demand for soft skills has jumped **138% since 2021** as </a:t>
            </a:r>
            <a:r>
              <a:rPr lang="en-US" sz="2000" dirty="0" err="1"/>
              <a:t>organisations</a:t>
            </a:r>
            <a:r>
              <a:rPr lang="en-US" sz="2000" dirty="0"/>
              <a:t> </a:t>
            </a:r>
            <a:r>
              <a:rPr lang="en-US" sz="2000" dirty="0" err="1"/>
              <a:t>realise</a:t>
            </a:r>
            <a:r>
              <a:rPr lang="en-US" sz="2000" dirty="0"/>
              <a:t> that AI works best *with* people, not instead of them. </a:t>
            </a:r>
          </a:p>
          <a:p>
            <a:endParaRPr lang="en-US" sz="2000" dirty="0"/>
          </a:p>
          <a:p>
            <a:r>
              <a:rPr lang="en-US" sz="2000" dirty="0"/>
              <a:t>The bottom line for the audience: the winners won’t be the most automated, but the most **thoughtfully augmented**—those who </a:t>
            </a:r>
            <a:r>
              <a:rPr lang="en-US" sz="2000" b="1" dirty="0">
                <a:solidFill>
                  <a:srgbClr val="FF0000"/>
                </a:solidFill>
              </a:rPr>
              <a:t>invest now in both technical AI skills and the human capabilities</a:t>
            </a:r>
            <a:r>
              <a:rPr lang="en-US" sz="2000" dirty="0"/>
              <a:t> that make technology meaningful.</a:t>
            </a:r>
          </a:p>
        </p:txBody>
      </p:sp>
    </p:spTree>
    <p:extLst>
      <p:ext uri="{BB962C8B-B14F-4D97-AF65-F5344CB8AC3E}">
        <p14:creationId xmlns:p14="http://schemas.microsoft.com/office/powerpoint/2010/main" val="1284806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A82DE-D8B4-6274-CABA-F25F6B86F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A5A9C-9311-49D5-5301-6B6A90B4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S5-1: What will customer experience look like in the next 3–5 years as predictive AI and real-time data become the norm?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7907F6-085B-5927-D161-9008B899D57F}"/>
              </a:ext>
            </a:extLst>
          </p:cNvPr>
          <p:cNvSpPr txBox="1"/>
          <p:nvPr/>
        </p:nvSpPr>
        <p:spPr>
          <a:xfrm>
            <a:off x="779813" y="1935678"/>
            <a:ext cx="1124989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the next 3–5 years, customer experience shifts from </a:t>
            </a:r>
            <a:r>
              <a:rPr lang="en-US" sz="2000" b="1" dirty="0">
                <a:solidFill>
                  <a:srgbClr val="FF0000"/>
                </a:solidFill>
              </a:rPr>
              <a:t>reactive</a:t>
            </a:r>
            <a:r>
              <a:rPr lang="en-US" sz="2000" dirty="0"/>
              <a:t> to *</a:t>
            </a:r>
            <a:r>
              <a:rPr lang="en-US" sz="2000" b="1" dirty="0">
                <a:solidFill>
                  <a:srgbClr val="FF0000"/>
                </a:solidFill>
              </a:rPr>
              <a:t>anticipatory</a:t>
            </a:r>
            <a:r>
              <a:rPr lang="en-US" sz="2000" dirty="0"/>
              <a:t>*: </a:t>
            </a:r>
            <a:r>
              <a:rPr lang="en-US" sz="2000" b="1" dirty="0">
                <a:solidFill>
                  <a:srgbClr val="FF0000"/>
                </a:solidFill>
              </a:rPr>
              <a:t>predictive AI and real-time data will drive hyper-personalized “next best experiences” </a:t>
            </a:r>
            <a:r>
              <a:rPr lang="en-US" sz="2000" dirty="0"/>
              <a:t>at every touchpoint, proactively solving issues before customers even notice them and orchestrating seamless journeys across channels—something already linked to up to **</a:t>
            </a:r>
            <a:r>
              <a:rPr lang="en-US" sz="2000" b="1" dirty="0">
                <a:solidFill>
                  <a:srgbClr val="FF0000"/>
                </a:solidFill>
              </a:rPr>
              <a:t>40% more revenue</a:t>
            </a:r>
            <a:r>
              <a:rPr lang="en-US" sz="2000" dirty="0"/>
              <a:t>** for highly personalized retailers. </a:t>
            </a:r>
          </a:p>
          <a:p>
            <a:endParaRPr lang="en-US" sz="2000" dirty="0"/>
          </a:p>
          <a:p>
            <a:r>
              <a:rPr lang="en-US" sz="2000" dirty="0"/>
              <a:t>Under the hood, real-time CDPs and agentic AI will become standard (with over **70% of companies doubling down on first-party data and </a:t>
            </a:r>
            <a:r>
              <a:rPr lang="en-US" sz="2000" b="1" dirty="0">
                <a:solidFill>
                  <a:srgbClr val="FF0000"/>
                </a:solidFill>
              </a:rPr>
              <a:t>84% using real-time activation</a:t>
            </a:r>
            <a:r>
              <a:rPr lang="en-US" sz="2000" dirty="0"/>
              <a:t>**), while </a:t>
            </a:r>
            <a:r>
              <a:rPr lang="en-US" sz="2000" b="1" dirty="0">
                <a:solidFill>
                  <a:srgbClr val="FF0000"/>
                </a:solidFill>
              </a:rPr>
              <a:t>humans focus on complex, high-empathy interactions</a:t>
            </a:r>
            <a:r>
              <a:rPr lang="en-US" sz="2000" dirty="0"/>
              <a:t>—crucial in a world where **59% of CX leaders** expect AI-powered CX to boost loyalty and lifetime value. </a:t>
            </a:r>
          </a:p>
        </p:txBody>
      </p:sp>
    </p:spTree>
    <p:extLst>
      <p:ext uri="{BB962C8B-B14F-4D97-AF65-F5344CB8AC3E}">
        <p14:creationId xmlns:p14="http://schemas.microsoft.com/office/powerpoint/2010/main" val="2907161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C7853-46B2-EAD8-3775-257EC4348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A0A9-1BC1-76E2-2DED-5AB2FC50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S5-2: If a company wants to start enhancing their customer experience using technology today, what is the single smartest first step?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E6D5C-6AF4-20B2-9A9E-1710B7E7A531}"/>
              </a:ext>
            </a:extLst>
          </p:cNvPr>
          <p:cNvSpPr txBox="1"/>
          <p:nvPr/>
        </p:nvSpPr>
        <p:spPr>
          <a:xfrm>
            <a:off x="779813" y="1935678"/>
            <a:ext cx="1124989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is the question that separates companies that succeed with </a:t>
            </a:r>
            <a:r>
              <a:rPr lang="en-US" sz="2000" dirty="0" err="1"/>
              <a:t>MarTech</a:t>
            </a:r>
            <a:r>
              <a:rPr lang="en-US" sz="2000" dirty="0"/>
              <a:t> from those that waste millions on shiny tools that never deliver. The single smartest first step *</a:t>
            </a:r>
            <a:r>
              <a:rPr lang="en-US" sz="2000" b="1" dirty="0">
                <a:solidFill>
                  <a:srgbClr val="FF0000"/>
                </a:solidFill>
              </a:rPr>
              <a:t>isn’t</a:t>
            </a:r>
            <a:r>
              <a:rPr lang="en-US" sz="2000" dirty="0"/>
              <a:t>* buying a new AI tool or CDP—it’s getting to the **</a:t>
            </a:r>
            <a:r>
              <a:rPr lang="en-US" sz="2000" b="1" dirty="0">
                <a:solidFill>
                  <a:srgbClr val="FF0000"/>
                </a:solidFill>
              </a:rPr>
              <a:t>truth</a:t>
            </a:r>
            <a:r>
              <a:rPr lang="en-US" sz="2000" dirty="0"/>
              <a:t>** of your customer experience: </a:t>
            </a:r>
            <a:r>
              <a:rPr lang="en-US" sz="2000" b="1" dirty="0">
                <a:solidFill>
                  <a:srgbClr val="FF0000"/>
                </a:solidFill>
              </a:rPr>
              <a:t>audit where all your customer data lives, break down silos, and map the *real* end-to-end journey from the customer’s point of view</a:t>
            </a:r>
            <a:r>
              <a:rPr lang="en-US" sz="2000" dirty="0"/>
              <a:t>, not the PowerPoint fantasy.</a:t>
            </a:r>
          </a:p>
          <a:p>
            <a:endParaRPr lang="en-US" sz="2000" dirty="0"/>
          </a:p>
          <a:p>
            <a:r>
              <a:rPr lang="en-US" sz="2000" dirty="0"/>
              <a:t>That combination of unified data and honest journey mapping becomes your north star, surfacing the biggest friction points, aligning teams (over 80% of practitioners say it does), and, as in Bose’s case, unlocking gains like **20% higher online conversions** and **15% fewer support calls** *before* you buy anything. Only after 6–8 weeks of this groundwork should you choose technology—so every rand you spend is tied to a specific, proven problem rather than a shiny AI gamble. </a:t>
            </a:r>
          </a:p>
        </p:txBody>
      </p:sp>
    </p:spTree>
    <p:extLst>
      <p:ext uri="{BB962C8B-B14F-4D97-AF65-F5344CB8AC3E}">
        <p14:creationId xmlns:p14="http://schemas.microsoft.com/office/powerpoint/2010/main" val="2981183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8EDE8-0F13-E6F2-97E5-D93325AD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CEB80-075B-3FEA-73FD-304D3B7A2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Autofit/>
          </a:bodyPr>
          <a:lstStyle/>
          <a:p>
            <a:r>
              <a:rPr lang="en-US" sz="2400" dirty="0"/>
              <a:t>S5-3: What advice would you give to teams looking to unify their </a:t>
            </a:r>
            <a:r>
              <a:rPr lang="en-US" sz="2400" dirty="0" err="1"/>
              <a:t>MarTech</a:t>
            </a:r>
            <a:r>
              <a:rPr lang="en-US" sz="2400" dirty="0"/>
              <a:t>, AI, and data strategies?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C14AE-6D51-7CD4-2D86-72EE1B772FAD}"/>
              </a:ext>
            </a:extLst>
          </p:cNvPr>
          <p:cNvSpPr txBox="1"/>
          <p:nvPr/>
        </p:nvSpPr>
        <p:spPr>
          <a:xfrm>
            <a:off x="779813" y="1935678"/>
            <a:ext cx="112498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 really unify </a:t>
            </a:r>
            <a:r>
              <a:rPr lang="en-US" sz="2000" dirty="0" err="1"/>
              <a:t>MarTech</a:t>
            </a:r>
            <a:r>
              <a:rPr lang="en-US" sz="2000" dirty="0"/>
              <a:t>, AI, and data, you start with **</a:t>
            </a:r>
            <a:r>
              <a:rPr lang="en-US" sz="2000" b="1" dirty="0">
                <a:solidFill>
                  <a:srgbClr val="FF0000"/>
                </a:solidFill>
              </a:rPr>
              <a:t>data and outcomes, not tools</a:t>
            </a:r>
            <a:r>
              <a:rPr lang="en-US" sz="2000" dirty="0"/>
              <a:t>**: </a:t>
            </a:r>
            <a:r>
              <a:rPr lang="en-US" sz="2000" b="1" dirty="0">
                <a:solidFill>
                  <a:srgbClr val="FF0000"/>
                </a:solidFill>
              </a:rPr>
              <a:t>fix silos </a:t>
            </a:r>
            <a:r>
              <a:rPr lang="en-US" sz="2000" dirty="0"/>
              <a:t>(now cited by 68% of orgs as the top concern), build a solid data foundation and semantic layer, and </a:t>
            </a:r>
            <a:r>
              <a:rPr lang="en-US" sz="2000" b="1" dirty="0">
                <a:solidFill>
                  <a:srgbClr val="FF0000"/>
                </a:solidFill>
              </a:rPr>
              <a:t>get leadership plus cross-functional teams (CMO, CIO, CFO, IT, marketing) truly aligned around growth, not shiny features.</a:t>
            </a:r>
          </a:p>
          <a:p>
            <a:endParaRPr lang="en-US" sz="2000" dirty="0"/>
          </a:p>
          <a:p>
            <a:r>
              <a:rPr lang="en-US" sz="2000" dirty="0"/>
              <a:t>Then you move to **</a:t>
            </a:r>
            <a:r>
              <a:rPr lang="en-US" sz="2000" b="1" dirty="0">
                <a:solidFill>
                  <a:srgbClr val="FF0000"/>
                </a:solidFill>
              </a:rPr>
              <a:t>composable, API-friendly architecture</a:t>
            </a:r>
            <a:r>
              <a:rPr lang="en-US" sz="2000" dirty="0"/>
              <a:t>** with regular stack audits (most firms now use only about a third of their </a:t>
            </a:r>
            <a:r>
              <a:rPr lang="en-US" sz="2000" dirty="0" err="1"/>
              <a:t>MarTech</a:t>
            </a:r>
            <a:r>
              <a:rPr lang="en-US" sz="2000" dirty="0"/>
              <a:t> capabilities), strict governance and consent-by-design, and “minimum viable” integrations that connect identifiers and key events across systems—always keeping humans in the loop so AI stays aligned with brand, ethics, and regulation.</a:t>
            </a:r>
          </a:p>
        </p:txBody>
      </p:sp>
    </p:spTree>
    <p:extLst>
      <p:ext uri="{BB962C8B-B14F-4D97-AF65-F5344CB8AC3E}">
        <p14:creationId xmlns:p14="http://schemas.microsoft.com/office/powerpoint/2010/main" val="3835387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3006</Words>
  <Application>Microsoft Office PowerPoint</Application>
  <PresentationFormat>Widescreen</PresentationFormat>
  <Paragraphs>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S1-1: To successfully achieve "hyper-personalization," we talk a lot about Marketing technology [MarTech] and AI, but where does the Data Engineer fit in? Why is that foundation the most critical piece of the puzzle?</vt:lpstr>
      <vt:lpstr>S1-2: In your experience, what are the top three most common issues you find in a company's data architecture that immediately bottleneck their AI and personalization efforts?</vt:lpstr>
      <vt:lpstr>S1-3: Once a company has clean and unified data, how does AI transform that into personalisation the end-user can actually experience?</vt:lpstr>
      <vt:lpstr>S2-1: Once we have clean, unified data, how does AI and Machine Learning transform that historical data into predictive insights that MarTech can actually use?</vt:lpstr>
      <vt:lpstr>S2-2: Many companies are hesitant about using AI ethically. What are the key governance and fairness checks that Data Science teams must implement when building models that influence customer decisions?</vt:lpstr>
      <vt:lpstr>S2-3: When integrating third-party tools (like payment gateways or ad platforms), what are the critical technical considerations to ensure a secure, private, and seamless handoff of customer data that doesn't feel disjointed?</vt:lpstr>
      <vt:lpstr>S2-4: What are the most exciting AI applications transforming marketing right now?</vt:lpstr>
      <vt:lpstr>S3-1: Many organisations struggle not with data collection, but with data quality. What role does data engineering play in fixing this?</vt:lpstr>
      <vt:lpstr>S3-2: What does a strong data foundation look like for companies wanting to deliver advanced personalization?</vt:lpstr>
      <vt:lpstr>S3-3: How should businesses think about integrating data from multiple platforms into one coherent customer view?</vt:lpstr>
      <vt:lpstr>S4-1: With all this technology, how can businesses avoid becoming overly dependent on tools and losing strategic direction?</vt:lpstr>
      <vt:lpstr>S4-2: What ethical or privacy concerns should companies prioritise as AI becomes more embedded in CX?</vt:lpstr>
      <vt:lpstr>S4-3: What skills will future marketing and CX teams need to thrive in a tech-driven environment?</vt:lpstr>
      <vt:lpstr>S5-1: What will customer experience look like in the next 3–5 years as predictive AI and real-time data become the norm?</vt:lpstr>
      <vt:lpstr>S5-2: If a company wants to start enhancing their customer experience using technology today, what is the single smartest first step?</vt:lpstr>
      <vt:lpstr>S5-3: What advice would you give to teams looking to unify their MarTech, AI, and data strategies?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 Berglund (ZA-DUR)</dc:creator>
  <cp:lastModifiedBy>Niels Berglund</cp:lastModifiedBy>
  <cp:revision>13</cp:revision>
  <dcterms:created xsi:type="dcterms:W3CDTF">2025-11-27T12:21:31Z</dcterms:created>
  <dcterms:modified xsi:type="dcterms:W3CDTF">2025-11-27T15:54:15Z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181a7a-98f3-4eb7-bb71-dfbcded8d8b1_Enabled">
    <vt:lpwstr>true</vt:lpwstr>
  </property>
  <property fmtid="{D5CDD505-2E9C-101B-9397-08002B2CF9AE}" pid="3" name="MSIP_Label_3b181a7a-98f3-4eb7-bb71-dfbcded8d8b1_SetDate">
    <vt:lpwstr>2025-11-27T12:21:48Z</vt:lpwstr>
  </property>
  <property fmtid="{D5CDD505-2E9C-101B-9397-08002B2CF9AE}" pid="4" name="MSIP_Label_3b181a7a-98f3-4eb7-bb71-dfbcded8d8b1_Method">
    <vt:lpwstr>Privileged</vt:lpwstr>
  </property>
  <property fmtid="{D5CDD505-2E9C-101B-9397-08002B2CF9AE}" pid="5" name="MSIP_Label_3b181a7a-98f3-4eb7-bb71-dfbcded8d8b1_Name">
    <vt:lpwstr>ES0002</vt:lpwstr>
  </property>
  <property fmtid="{D5CDD505-2E9C-101B-9397-08002B2CF9AE}" pid="6" name="MSIP_Label_3b181a7a-98f3-4eb7-bb71-dfbcded8d8b1_SiteId">
    <vt:lpwstr>72aa0d83-624a-4ebf-a683-1b9b45548610</vt:lpwstr>
  </property>
  <property fmtid="{D5CDD505-2E9C-101B-9397-08002B2CF9AE}" pid="7" name="MSIP_Label_3b181a7a-98f3-4eb7-bb71-dfbcded8d8b1_ActionId">
    <vt:lpwstr>a500063d-2b4f-4756-a792-871f557ae6bb</vt:lpwstr>
  </property>
  <property fmtid="{D5CDD505-2E9C-101B-9397-08002B2CF9AE}" pid="8" name="MSIP_Label_3b181a7a-98f3-4eb7-bb71-dfbcded8d8b1_ContentBits">
    <vt:lpwstr>0</vt:lpwstr>
  </property>
  <property fmtid="{D5CDD505-2E9C-101B-9397-08002B2CF9AE}" pid="9" name="MSIP_Label_3b181a7a-98f3-4eb7-bb71-dfbcded8d8b1_Tag">
    <vt:lpwstr>50, 0, 1, 1</vt:lpwstr>
  </property>
</Properties>
</file>